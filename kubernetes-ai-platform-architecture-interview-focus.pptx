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301097baac4420" /><Relationship Type="http://schemas.openxmlformats.org/officeDocument/2006/relationships/extended-properties" Target="/docProps/app.xml" Id="Rc30c4a89e1d6480f" /><Relationship Type="http://schemas.openxmlformats.org/officeDocument/2006/relationships/officeDocument" Target="/ppt/presentation.xml" Id="R65cd10b85c704f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0bd36b55af4a57"/>
  </p:sldMasterIdLst>
  <p:notesMasterIdLst>
    <p:notesMasterId xmlns:r="http://schemas.openxmlformats.org/officeDocument/2006/relationships" r:id="R33e8d744e4a04c3d"/>
  </p:notesMasterIdLst>
  <p:sldIdLst>
    <p:sldId xmlns:r="http://schemas.openxmlformats.org/officeDocument/2006/relationships" id="256" r:id="R93059d91aa8346d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591b59a26d4a8a" /><Relationship Type="http://schemas.openxmlformats.org/officeDocument/2006/relationships/slideMaster" Target="/ppt/slideMasters/slideMaster1.xml" Id="R350bd36b55af4a57" /><Relationship Type="http://schemas.openxmlformats.org/officeDocument/2006/relationships/notesMaster" Target="/ppt/notesMasters/notesMaster1.xml" Id="R33e8d744e4a04c3d" /><Relationship Type="http://schemas.openxmlformats.org/officeDocument/2006/relationships/presProps" Target="/ppt/presProps.xml" Id="Rad8e6d3b8a054157" /><Relationship Type="http://schemas.openxmlformats.org/officeDocument/2006/relationships/tableStyles" Target="/ppt/tableStyles.xml" Id="R5b87aa194c2c43c0" /><Relationship Type="http://schemas.openxmlformats.org/officeDocument/2006/relationships/slide" Target="/ppt/slides/slide1.xml" Id="R93059d91aa8346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27b9ce90ee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4f14724f2d495b" /><Relationship Type="http://schemas.openxmlformats.org/officeDocument/2006/relationships/notesMaster" Target="/ppt/notesMasters/notesMaster1.xml" Id="R691ecac47ebc40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description.</a:t>
            </a:r>
          </a:p>
          <a:p xmlns:a="http://schemas.openxmlformats.org/drawingml/2006/main">
            <a:r>
              <a:t>- Local code: app/service/harbor_pullandpush_service.go (prepareBuildContextTar, dockerBuild).</a:t>
            </a:r>
          </a:p>
          <a:p xmlns:a="http://schemas.openxmlformats.org/drawingml/2006/main">
            <a:r>
              <a:t>- Local code: app/middleware/auth_middleware.go.</a:t>
            </a:r>
          </a:p>
          <a:p xmlns:a="http://schemas.openxmlformats.org/drawingml/2006/main">
            <a:r>
              <a:t>- Local code: app/service/k8s_rbac_service.go.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4df23fea64a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91a0a032e64d0b" /><Relationship Type="http://schemas.openxmlformats.org/officeDocument/2006/relationships/slideLayout" Target="/ppt/slideLayouts/slideLayout1.xml" Id="R3267256f4f9c4e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67256f4f9c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0f34294e64419" /><Relationship Type="http://schemas.openxmlformats.org/officeDocument/2006/relationships/notesSlide" Target="/ppt/notesSlides/notesSlide1.xml" Id="R5e99c1d030094b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header">
            <a:extLst xmlns:a="http://schemas.openxmlformats.org/drawingml/2006/main">
              <a:ext uri="{FF2B5EF4-FFF2-40B4-BE49-F238E27FC236}">
                <a16:creationId xmlns:a16="http://schemas.microsoft.com/office/drawing/2014/main" id="{B6779144-EE4A-4AE0-AA0A-059CF438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93"/>
          </a:solidFill>
          <a:ln xmlns:a="http://schemas.openxmlformats.org/drawingml/2006/main" w="0">
            <a:solidFill>
              <a:srgbClr val="0B4F93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A7F7BA-B3BD-435B-AB59-1C921530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Kubernetes 的智能算力服务化平台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8671250-7518-4D6B-B2EB-5608955D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9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8E9F8"/>
                </a:solidFill>
                <a:latin typeface="Microsoft YaHei"/>
                <a:ea typeface="Microsoft YaHei"/>
                <a:cs typeface="Microsoft YaHei"/>
              </a:rPr>
              <a:t>镜像标准化 · GitOps 自动交付 · 多租户资源隔离 · 统一流量治理 · 全栈可观测</a:t>
            </a:r>
          </a:p>
        </p:txBody>
      </p:sp>
      <p:sp>
        <p:nvSpPr>
          <p:cNvPr id="4" name="cyan-divider">
            <a:extLst xmlns:a="http://schemas.openxmlformats.org/drawingml/2006/main">
              <a:ext uri="{FF2B5EF4-FFF2-40B4-BE49-F238E27FC236}">
                <a16:creationId xmlns:a16="http://schemas.microsoft.com/office/drawing/2014/main" id="{917BDDD6-A427-4E92-9C62-031D434E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1828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7D7"/>
          </a:solidFill>
          <a:ln xmlns:a="http://schemas.openxmlformats.org/drawingml/2006/main" w="0">
            <a:solidFill>
              <a:srgbClr val="2CB7D7"/>
            </a:solidFill>
            <a:prstDash val="solid"/>
          </a:ln>
        </p:spPr>
      </p:sp>
      <p:sp>
        <p:nvSpPr>
          <p:cNvPr id="5" name="target-state">
            <a:extLst xmlns:a="http://schemas.openxmlformats.org/drawingml/2006/main">
              <a:ext uri="{FF2B5EF4-FFF2-40B4-BE49-F238E27FC236}">
                <a16:creationId xmlns:a16="http://schemas.microsoft.com/office/drawing/2014/main" id="{74239FE5-16F8-44F7-879C-273AEAEE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85750"/>
            <a:ext cx="1333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397CB6"/>
          </a:solidFill>
          <a:ln xmlns:a="http://schemas.openxmlformats.org/drawingml/2006/main" w="19050">
            <a:solidFill>
              <a:srgbClr val="397CB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目标态架构</a:t>
            </a:r>
          </a:p>
        </p:txBody>
      </p:sp>
      <p:sp>
        <p:nvSpPr>
          <p:cNvPr id="6" name="layer-访问层">
            <a:extLst xmlns:a="http://schemas.openxmlformats.org/drawingml/2006/main">
              <a:ext uri="{FF2B5EF4-FFF2-40B4-BE49-F238E27FC236}">
                <a16:creationId xmlns:a16="http://schemas.microsoft.com/office/drawing/2014/main" id="{65DDC96B-9D65-4C4C-BED8-8BC45E8C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12192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8EDF9"/>
          </a:solidFill>
          <a:ln xmlns:a="http://schemas.openxmlformats.org/drawingml/2006/main" w="19050">
            <a:solidFill>
              <a:srgbClr val="D8EDF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访问层</a:t>
            </a:r>
          </a:p>
        </p:txBody>
      </p:sp>
      <p:sp>
        <p:nvSpPr>
          <p:cNvPr id="7" name="layer-平台控制层">
            <a:extLst xmlns:a="http://schemas.openxmlformats.org/drawingml/2006/main">
              <a:ext uri="{FF2B5EF4-FFF2-40B4-BE49-F238E27FC236}">
                <a16:creationId xmlns:a16="http://schemas.microsoft.com/office/drawing/2014/main" id="{0E72B91A-87F3-4287-A641-F05F8B26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71750"/>
            <a:ext cx="1219200" cy="233362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2F6"/>
          </a:solidFill>
          <a:ln xmlns:a="http://schemas.openxmlformats.org/drawingml/2006/main" w="19050">
            <a:solidFill>
              <a:srgbClr val="E8E2F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平台控制层</a:t>
            </a:r>
          </a:p>
        </p:txBody>
      </p:sp>
      <p:sp>
        <p:nvSpPr>
          <p:cNvPr id="8" name="layer-交付链路">
            <a:extLst xmlns:a="http://schemas.openxmlformats.org/drawingml/2006/main">
              <a:ext uri="{FF2B5EF4-FFF2-40B4-BE49-F238E27FC236}">
                <a16:creationId xmlns:a16="http://schemas.microsoft.com/office/drawing/2014/main" id="{35632E49-3AB8-4040-A679-DBB92295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24450"/>
            <a:ext cx="1219200" cy="132397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2EA"/>
          </a:solidFill>
          <a:ln xmlns:a="http://schemas.openxmlformats.org/drawingml/2006/main" w="19050">
            <a:solidFill>
              <a:srgbClr val="E2F2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交付链路</a:t>
            </a:r>
          </a:p>
        </p:txBody>
      </p:sp>
      <p:sp>
        <p:nvSpPr>
          <p:cNvPr id="9" name="layer-运行与观测层">
            <a:extLst xmlns:a="http://schemas.openxmlformats.org/drawingml/2006/main">
              <a:ext uri="{FF2B5EF4-FFF2-40B4-BE49-F238E27FC236}">
                <a16:creationId xmlns:a16="http://schemas.microsoft.com/office/drawing/2014/main" id="{2E63D636-6A63-4C68-BFA9-C2FDFFF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0"/>
            <a:ext cx="1219200" cy="27051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19050">
            <a:solidFill>
              <a:srgbClr val="FFF0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运行与观测层</a:t>
            </a:r>
          </a:p>
        </p:txBody>
      </p:sp>
      <p:sp>
        <p:nvSpPr>
          <p:cNvPr id="10" name="platform-user">
            <a:extLst xmlns:a="http://schemas.openxmlformats.org/drawingml/2006/main">
              <a:ext uri="{FF2B5EF4-FFF2-40B4-BE49-F238E27FC236}">
                <a16:creationId xmlns:a16="http://schemas.microsoft.com/office/drawing/2014/main" id="{64492993-FF90-44C1-BBE8-9019222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2857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A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平台用户 / 租户</a:t>
            </a:r>
          </a:p>
        </p:txBody>
      </p:sp>
      <p:sp>
        <p:nvSpPr>
          <p:cNvPr id="11" name="unified-entry">
            <a:extLst xmlns:a="http://schemas.openxmlformats.org/drawingml/2006/main">
              <a:ext uri="{FF2B5EF4-FFF2-40B4-BE49-F238E27FC236}">
                <a16:creationId xmlns:a16="http://schemas.microsoft.com/office/drawing/2014/main" id="{A3CA256A-D735-4B1A-8697-16D8666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4000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A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统一访问入口</a:t>
            </a:r>
          </a:p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Ingress Controller · HTTPS / 域名 / 路径路由</a:t>
            </a:r>
          </a:p>
        </p:txBody>
      </p:sp>
      <p:sp>
        <p:nvSpPr>
          <p:cNvPr id="12" name="go-control-plane">
            <a:extLst xmlns:a="http://schemas.openxmlformats.org/drawingml/2006/main">
              <a:ext uri="{FF2B5EF4-FFF2-40B4-BE49-F238E27FC236}">
                <a16:creationId xmlns:a16="http://schemas.microsoft.com/office/drawing/2014/main" id="{3A5181B0-51A0-4AF3-8F6E-2B4158BE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537335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D8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ntrol-plane-header">
            <a:extLst xmlns:a="http://schemas.openxmlformats.org/drawingml/2006/main">
              <a:ext uri="{FF2B5EF4-FFF2-40B4-BE49-F238E27FC236}">
                <a16:creationId xmlns:a16="http://schemas.microsoft.com/office/drawing/2014/main" id="{8528735C-9B78-4F4B-9F83-ADCB1072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90800"/>
            <a:ext cx="1533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F6"/>
          </a:solidFill>
          <a:ln xmlns:a="http://schemas.openxmlformats.org/drawingml/2006/main" w="0">
            <a:solidFill>
              <a:srgbClr val="E8E2F6"/>
            </a:solidFill>
            <a:prstDash val="solid"/>
          </a:ln>
        </p:spPr>
      </p:sp>
      <p:sp>
        <p:nvSpPr>
          <p:cNvPr id="14" name="control-plane-title">
            <a:extLst xmlns:a="http://schemas.openxmlformats.org/drawingml/2006/main">
              <a:ext uri="{FF2B5EF4-FFF2-40B4-BE49-F238E27FC236}">
                <a16:creationId xmlns:a16="http://schemas.microsoft.com/office/drawing/2014/main" id="{AADF91B3-04AD-4664-90A8-47C1A92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28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Go 平台控制面（REST API + client-go）</a:t>
            </a:r>
          </a:p>
        </p:txBody>
      </p:sp>
      <p:sp>
        <p:nvSpPr>
          <p:cNvPr id="15" name="auth-tenant">
            <a:extLst xmlns:a="http://schemas.openxmlformats.org/drawingml/2006/main">
              <a:ext uri="{FF2B5EF4-FFF2-40B4-BE49-F238E27FC236}">
                <a16:creationId xmlns:a16="http://schemas.microsoft.com/office/drawing/2014/main" id="{5524B0B1-1BEB-473B-B55D-B653965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67075"/>
            <a:ext cx="4048125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9050">
            <a:solidFill>
              <a:srgbClr val="8C70BF"/>
            </a:solidFill>
            <a:prstDash val="solid"/>
          </a:ln>
        </p:spPr>
      </p:sp>
      <p:sp>
        <p:nvSpPr>
          <p:cNvPr id="16" name="auth-tenant-title">
            <a:extLst xmlns:a="http://schemas.openxmlformats.org/drawingml/2006/main">
              <a:ext uri="{FF2B5EF4-FFF2-40B4-BE49-F238E27FC236}">
                <a16:creationId xmlns:a16="http://schemas.microsoft.com/office/drawing/2014/main" id="{C0BDD41B-0CBD-47A1-A18F-36A9D271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81375"/>
            <a:ext cx="385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双层身份与租户授权</a:t>
            </a:r>
          </a:p>
        </p:txBody>
      </p:sp>
      <p:sp>
        <p:nvSpPr>
          <p:cNvPr id="17" name="auth-tenant-body">
            <a:extLst xmlns:a="http://schemas.openxmlformats.org/drawingml/2006/main">
              <a:ext uri="{FF2B5EF4-FFF2-40B4-BE49-F238E27FC236}">
                <a16:creationId xmlns:a16="http://schemas.microsoft.com/office/drawing/2014/main" id="{8F80E1DD-1494-42CB-BCCA-6FA5B2D8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14750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JWT + Redis → 租户身份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租户 → Namespace + ServiceAccount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RoleBinding → Role → API Server RBAC 判定</a:t>
            </a:r>
          </a:p>
        </p:txBody>
      </p:sp>
      <p:sp>
        <p:nvSpPr>
          <p:cNvPr id="18" name="image-build">
            <a:extLst xmlns:a="http://schemas.openxmlformats.org/drawingml/2006/main">
              <a:ext uri="{FF2B5EF4-FFF2-40B4-BE49-F238E27FC236}">
                <a16:creationId xmlns:a16="http://schemas.microsoft.com/office/drawing/2014/main" id="{58A6844F-ED24-4BB3-92A7-550A7B3D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5095875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EF7FD"/>
          </a:solidFill>
          <a:ln xmlns:a="http://schemas.openxmlformats.org/drawingml/2006/main" w="19050">
            <a:solidFill>
              <a:srgbClr val="4B9BD3"/>
            </a:solidFill>
            <a:prstDash val="solid"/>
          </a:ln>
        </p:spPr>
      </p:sp>
      <p:sp>
        <p:nvSpPr>
          <p:cNvPr id="19" name="image-build-title">
            <a:extLst xmlns:a="http://schemas.openxmlformats.org/drawingml/2006/main">
              <a:ext uri="{FF2B5EF4-FFF2-40B4-BE49-F238E27FC236}">
                <a16:creationId xmlns:a16="http://schemas.microsoft.com/office/drawing/2014/main" id="{EACCAAB4-92B4-4EDF-AFA4-39A0D4D0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490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模型环境标准化与镜像构建</a:t>
            </a:r>
          </a:p>
        </p:txBody>
      </p:sp>
      <p:sp>
        <p:nvSpPr>
          <p:cNvPr id="20" name="image-build-body">
            <a:extLst xmlns:a="http://schemas.openxmlformats.org/drawingml/2006/main">
              <a:ext uri="{FF2B5EF4-FFF2-40B4-BE49-F238E27FC236}">
                <a16:creationId xmlns:a16="http://schemas.microsoft.com/office/drawing/2014/main" id="{2B3482DD-84EF-4B88-8922-7D9379DA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90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基础镜像：Python / PyTorch / TensorFlow / CUDA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代码压缩包 → src/ + 动态 Dockerfile → tar 流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Docker ImageBuild → 专属镜像 → 租户 Harbor 项目</a:t>
            </a:r>
          </a:p>
        </p:txBody>
      </p:sp>
      <p:sp>
        <p:nvSpPr>
          <p:cNvPr id="21" name="k8s-orchestrator">
            <a:extLst xmlns:a="http://schemas.openxmlformats.org/drawingml/2006/main">
              <a:ext uri="{FF2B5EF4-FFF2-40B4-BE49-F238E27FC236}">
                <a16:creationId xmlns:a16="http://schemas.microsoft.com/office/drawing/2014/main" id="{2B70AF38-05CC-42E3-B173-CA725CEB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3267075"/>
            <a:ext cx="504825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22" name="k8s-orchestrator-title">
            <a:extLst xmlns:a="http://schemas.openxmlformats.org/drawingml/2006/main">
              <a:ext uri="{FF2B5EF4-FFF2-40B4-BE49-F238E27FC236}">
                <a16:creationId xmlns:a16="http://schemas.microsoft.com/office/drawing/2014/main" id="{8108A2F2-AE32-4963-BB68-EFC4AE27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3813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Kubernetes 编排与声明式交付</a:t>
            </a:r>
          </a:p>
        </p:txBody>
      </p:sp>
      <p:sp>
        <p:nvSpPr>
          <p:cNvPr id="23" name="k8s-orchestrator-body">
            <a:extLst xmlns:a="http://schemas.openxmlformats.org/drawingml/2006/main">
              <a:ext uri="{FF2B5EF4-FFF2-40B4-BE49-F238E27FC236}">
                <a16:creationId xmlns:a16="http://schemas.microsoft.com/office/drawing/2014/main" id="{198713EA-B998-4E5A-9FE7-7EE600A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7147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908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Deployment：镜像 / 启动命令 / 端口 / CPU / 内存 / GPU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Namespace · Quota · LimitRange · ServiceAccount / RBAC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 / Ingress · Git 仓库 · Argo CD 同步</a:t>
            </a:r>
          </a:p>
        </p:txBody>
      </p:sp>
      <p:sp>
        <p:nvSpPr>
          <p:cNvPr id="24" name="source-assets">
            <a:extLst xmlns:a="http://schemas.openxmlformats.org/drawingml/2006/main">
              <a:ext uri="{FF2B5EF4-FFF2-40B4-BE49-F238E27FC236}">
                <a16:creationId xmlns:a16="http://schemas.microsoft.com/office/drawing/2014/main" id="{7ED4122A-BFCC-4241-96A2-AB0B3F54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24450"/>
            <a:ext cx="28003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25" name="source-assets-title">
            <a:extLst xmlns:a="http://schemas.openxmlformats.org/drawingml/2006/main">
              <a:ext uri="{FF2B5EF4-FFF2-40B4-BE49-F238E27FC236}">
                <a16:creationId xmlns:a16="http://schemas.microsoft.com/office/drawing/2014/main" id="{D312D630-AE21-4A2C-A0C4-E1037777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38750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模型代码压缩包</a:t>
            </a:r>
          </a:p>
        </p:txBody>
      </p:sp>
      <p:sp>
        <p:nvSpPr>
          <p:cNvPr id="26" name="source-assets-body">
            <a:extLst xmlns:a="http://schemas.openxmlformats.org/drawingml/2006/main">
              <a:ext uri="{FF2B5EF4-FFF2-40B4-BE49-F238E27FC236}">
                <a16:creationId xmlns:a16="http://schemas.microsoft.com/office/drawing/2014/main" id="{2858860B-C038-41F0-AB1A-2CA5A25A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2609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.zip / .tar / .tar.gz / .tgz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模型代码 · 依赖文件 · 启动脚本</a:t>
            </a:r>
          </a:p>
        </p:txBody>
      </p:sp>
      <p:sp>
        <p:nvSpPr>
          <p:cNvPr id="27" name="docker-pipeline">
            <a:extLst xmlns:a="http://schemas.openxmlformats.org/drawingml/2006/main">
              <a:ext uri="{FF2B5EF4-FFF2-40B4-BE49-F238E27FC236}">
                <a16:creationId xmlns:a16="http://schemas.microsoft.com/office/drawing/2014/main" id="{65ECDC30-DC4C-4E65-AB61-48237FD5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24450"/>
            <a:ext cx="2581275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28" name="docker-pipeline-title">
            <a:extLst xmlns:a="http://schemas.openxmlformats.org/drawingml/2006/main">
              <a:ext uri="{FF2B5EF4-FFF2-40B4-BE49-F238E27FC236}">
                <a16:creationId xmlns:a16="http://schemas.microsoft.com/office/drawing/2014/main" id="{464367C6-9358-43B7-863A-F21735B5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38750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Docker 构建上下文</a:t>
            </a:r>
          </a:p>
        </p:txBody>
      </p:sp>
      <p:sp>
        <p:nvSpPr>
          <p:cNvPr id="29" name="docker-pipeline-body">
            <a:extLst xmlns:a="http://schemas.openxmlformats.org/drawingml/2006/main">
              <a:ext uri="{FF2B5EF4-FFF2-40B4-BE49-F238E27FC236}">
                <a16:creationId xmlns:a16="http://schemas.microsoft.com/office/drawing/2014/main" id="{9FE9C631-1652-43CF-9111-68D620E3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72125"/>
            <a:ext cx="23907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tmpDir / Dockerfile + src/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打包 tar.Reader → ImageBuild</a:t>
            </a:r>
          </a:p>
        </p:txBody>
      </p:sp>
      <p:sp>
        <p:nvSpPr>
          <p:cNvPr id="30" name="harbor">
            <a:extLst xmlns:a="http://schemas.openxmlformats.org/drawingml/2006/main">
              <a:ext uri="{FF2B5EF4-FFF2-40B4-BE49-F238E27FC236}">
                <a16:creationId xmlns:a16="http://schemas.microsoft.com/office/drawing/2014/main" id="{CF6901FD-F863-4275-B588-902D8108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24450"/>
            <a:ext cx="22669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1" name="harbor-title">
            <a:extLst xmlns:a="http://schemas.openxmlformats.org/drawingml/2006/main">
              <a:ext uri="{FF2B5EF4-FFF2-40B4-BE49-F238E27FC236}">
                <a16:creationId xmlns:a16="http://schemas.microsoft.com/office/drawing/2014/main" id="{DE33DCB2-410C-4C0B-9D44-5336B93A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38750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Harbor</a:t>
            </a:r>
          </a:p>
        </p:txBody>
      </p:sp>
      <p:sp>
        <p:nvSpPr>
          <p:cNvPr id="32" name="harbor-body">
            <a:extLst xmlns:a="http://schemas.openxmlformats.org/drawingml/2006/main">
              <a:ext uri="{FF2B5EF4-FFF2-40B4-BE49-F238E27FC236}">
                <a16:creationId xmlns:a16="http://schemas.microsoft.com/office/drawing/2014/main" id="{5C6EF3DF-9689-40A6-A25A-F45FF856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72125"/>
            <a:ext cx="207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私有镜像仓库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Tag / 版本 / 制品交付</a:t>
            </a:r>
          </a:p>
        </p:txBody>
      </p:sp>
      <p:sp>
        <p:nvSpPr>
          <p:cNvPr id="33" name="git-config">
            <a:extLst xmlns:a="http://schemas.openxmlformats.org/drawingml/2006/main">
              <a:ext uri="{FF2B5EF4-FFF2-40B4-BE49-F238E27FC236}">
                <a16:creationId xmlns:a16="http://schemas.microsoft.com/office/drawing/2014/main" id="{3D2B8183-8698-4E33-A63D-84D0618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124450"/>
            <a:ext cx="23050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4" name="git-config-title">
            <a:extLst xmlns:a="http://schemas.openxmlformats.org/drawingml/2006/main">
              <a:ext uri="{FF2B5EF4-FFF2-40B4-BE49-F238E27FC236}">
                <a16:creationId xmlns:a16="http://schemas.microsoft.com/office/drawing/2014/main" id="{61A8FA76-73ED-411B-B797-2A037DB3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238750"/>
            <a:ext cx="2114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Git 配置仓库</a:t>
            </a:r>
          </a:p>
        </p:txBody>
      </p:sp>
      <p:sp>
        <p:nvSpPr>
          <p:cNvPr id="35" name="git-config-body">
            <a:extLst xmlns:a="http://schemas.openxmlformats.org/drawingml/2006/main">
              <a:ext uri="{FF2B5EF4-FFF2-40B4-BE49-F238E27FC236}">
                <a16:creationId xmlns:a16="http://schemas.microsoft.com/office/drawing/2014/main" id="{A64AD2F5-CAF6-426E-9379-707B0A6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572125"/>
            <a:ext cx="2114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租户化 YAML 清单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唯一事实源 · 可审计回滚</a:t>
            </a:r>
          </a:p>
        </p:txBody>
      </p:sp>
      <p:sp>
        <p:nvSpPr>
          <p:cNvPr id="36" name="argocd-appset">
            <a:extLst xmlns:a="http://schemas.openxmlformats.org/drawingml/2006/main">
              <a:ext uri="{FF2B5EF4-FFF2-40B4-BE49-F238E27FC236}">
                <a16:creationId xmlns:a16="http://schemas.microsoft.com/office/drawing/2014/main" id="{FB2541C0-21F1-4F36-B15A-8402574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124450"/>
            <a:ext cx="2905125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7" name="argocd-appset-title">
            <a:extLst xmlns:a="http://schemas.openxmlformats.org/drawingml/2006/main">
              <a:ext uri="{FF2B5EF4-FFF2-40B4-BE49-F238E27FC236}">
                <a16:creationId xmlns:a16="http://schemas.microsoft.com/office/drawing/2014/main" id="{3C678AEB-F7CC-4618-84F1-C58DB124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5238750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Argo CD ApplicationSet</a:t>
            </a:r>
          </a:p>
        </p:txBody>
      </p:sp>
      <p:sp>
        <p:nvSpPr>
          <p:cNvPr id="38" name="argocd-appset-body">
            <a:extLst xmlns:a="http://schemas.openxmlformats.org/drawingml/2006/main">
              <a:ext uri="{FF2B5EF4-FFF2-40B4-BE49-F238E27FC236}">
                <a16:creationId xmlns:a16="http://schemas.microsoft.com/office/drawing/2014/main" id="{B1B156D8-670A-4471-9E97-6B50248A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557212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按租户生成 Application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自动同步 · 漂移修复 · 回滚</a:t>
            </a:r>
          </a:p>
        </p:txBody>
      </p:sp>
      <p:sp>
        <p:nvSpPr>
          <p:cNvPr id="39" name="kubernetes-cluster">
            <a:extLst xmlns:a="http://schemas.openxmlformats.org/drawingml/2006/main">
              <a:ext uri="{FF2B5EF4-FFF2-40B4-BE49-F238E27FC236}">
                <a16:creationId xmlns:a16="http://schemas.microsoft.com/office/drawing/2014/main" id="{CF51828B-E162-469D-A060-0C6A55CF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667500"/>
            <a:ext cx="11315700" cy="27051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cluster-title">
            <a:extLst xmlns:a="http://schemas.openxmlformats.org/drawingml/2006/main">
              <a:ext uri="{FF2B5EF4-FFF2-40B4-BE49-F238E27FC236}">
                <a16:creationId xmlns:a16="http://schemas.microsoft.com/office/drawing/2014/main" id="{00078FE8-E3A0-4EBF-BA57-B90FAFFB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800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Kubernetes 智能算力集群</a:t>
            </a:r>
          </a:p>
        </p:txBody>
      </p:sp>
      <p:sp>
        <p:nvSpPr>
          <p:cNvPr id="41" name="tenant-a">
            <a:extLst xmlns:a="http://schemas.openxmlformats.org/drawingml/2006/main">
              <a:ext uri="{FF2B5EF4-FFF2-40B4-BE49-F238E27FC236}">
                <a16:creationId xmlns:a16="http://schemas.microsoft.com/office/drawing/2014/main" id="{DC79237C-2BED-4EAE-B2AC-26C2CFE6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7248525"/>
            <a:ext cx="52197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</p:sp>
      <p:sp>
        <p:nvSpPr>
          <p:cNvPr id="42" name="tenant-b">
            <a:extLst xmlns:a="http://schemas.openxmlformats.org/drawingml/2006/main">
              <a:ext uri="{FF2B5EF4-FFF2-40B4-BE49-F238E27FC236}">
                <a16:creationId xmlns:a16="http://schemas.microsoft.com/office/drawing/2014/main" id="{AEDDE09E-0A8B-4B74-930D-1CE66A52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7248525"/>
            <a:ext cx="52197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</p:sp>
      <p:sp>
        <p:nvSpPr>
          <p:cNvPr id="43" name="tenant-a-head">
            <a:extLst xmlns:a="http://schemas.openxmlformats.org/drawingml/2006/main">
              <a:ext uri="{FF2B5EF4-FFF2-40B4-BE49-F238E27FC236}">
                <a16:creationId xmlns:a16="http://schemas.microsoft.com/office/drawing/2014/main" id="{AD87E320-4B1B-45B9-9536-9DEB85E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400925"/>
            <a:ext cx="4914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8AB"/>
          </a:solidFill>
          <a:ln xmlns:a="http://schemas.openxmlformats.org/drawingml/2006/main" w="19050">
            <a:solidFill>
              <a:srgbClr val="F7D8A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Tenant A Namespace</a:t>
            </a:r>
          </a:p>
        </p:txBody>
      </p:sp>
      <p:sp>
        <p:nvSpPr>
          <p:cNvPr id="44" name="tenant-b-head">
            <a:extLst xmlns:a="http://schemas.openxmlformats.org/drawingml/2006/main">
              <a:ext uri="{FF2B5EF4-FFF2-40B4-BE49-F238E27FC236}">
                <a16:creationId xmlns:a16="http://schemas.microsoft.com/office/drawing/2014/main" id="{791A4917-9315-43BC-B777-71A4CA75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7400925"/>
            <a:ext cx="4914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8AB"/>
          </a:solidFill>
          <a:ln xmlns:a="http://schemas.openxmlformats.org/drawingml/2006/main" w="19050">
            <a:solidFill>
              <a:srgbClr val="F7D8A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Tenant B Namespace</a:t>
            </a:r>
          </a:p>
        </p:txBody>
      </p:sp>
      <p:sp>
        <p:nvSpPr>
          <p:cNvPr id="45" name="tenant-a-resources">
            <a:extLst xmlns:a="http://schemas.openxmlformats.org/drawingml/2006/main">
              <a:ext uri="{FF2B5EF4-FFF2-40B4-BE49-F238E27FC236}">
                <a16:creationId xmlns:a16="http://schemas.microsoft.com/office/drawing/2014/main" id="{96C5D337-0445-41CA-8492-0DD7A34B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7915275"/>
            <a:ext cx="2619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ServiceAccount + RoleBinding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ResourceQuota + LimitRange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Deployment / Pod</a:t>
            </a:r>
          </a:p>
        </p:txBody>
      </p:sp>
      <p:sp>
        <p:nvSpPr>
          <p:cNvPr id="46" name="tenant-b-resources">
            <a:extLst xmlns:a="http://schemas.openxmlformats.org/drawingml/2006/main">
              <a:ext uri="{FF2B5EF4-FFF2-40B4-BE49-F238E27FC236}">
                <a16:creationId xmlns:a16="http://schemas.microsoft.com/office/drawing/2014/main" id="{47300A6A-AD9C-4391-BD1B-A1161AF0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915275"/>
            <a:ext cx="2619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ServiceAccount + RoleBinding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ResourceQuota + LimitRange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Deployment / Pod</a:t>
            </a:r>
          </a:p>
        </p:txBody>
      </p:sp>
      <p:sp>
        <p:nvSpPr>
          <p:cNvPr id="47" name="service-a">
            <a:extLst xmlns:a="http://schemas.openxmlformats.org/drawingml/2006/main">
              <a:ext uri="{FF2B5EF4-FFF2-40B4-BE49-F238E27FC236}">
                <a16:creationId xmlns:a16="http://schemas.microsoft.com/office/drawing/2014/main" id="{D2838E1C-1AFF-49B7-81FB-95FA9360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7924800"/>
            <a:ext cx="186690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37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推理服务 A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CPU / GPU · Service</a:t>
            </a:r>
          </a:p>
        </p:txBody>
      </p:sp>
      <p:sp>
        <p:nvSpPr>
          <p:cNvPr id="48" name="service-b">
            <a:extLst xmlns:a="http://schemas.openxmlformats.org/drawingml/2006/main">
              <a:ext uri="{FF2B5EF4-FFF2-40B4-BE49-F238E27FC236}">
                <a16:creationId xmlns:a16="http://schemas.microsoft.com/office/drawing/2014/main" id="{E5F6E946-2B95-463A-9F81-B921CF82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7924800"/>
            <a:ext cx="186690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37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推理服务 B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CPU / GPU · Service</a:t>
            </a:r>
          </a:p>
        </p:txBody>
      </p:sp>
      <p:sp>
        <p:nvSpPr>
          <p:cNvPr id="49" name="observability">
            <a:extLst xmlns:a="http://schemas.openxmlformats.org/drawingml/2006/main">
              <a:ext uri="{FF2B5EF4-FFF2-40B4-BE49-F238E27FC236}">
                <a16:creationId xmlns:a16="http://schemas.microsoft.com/office/drawing/2014/main" id="{C91148E5-BC58-4069-915F-E325AD8D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667500"/>
            <a:ext cx="3771900" cy="27051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observability-title">
            <a:extLst xmlns:a="http://schemas.openxmlformats.org/drawingml/2006/main">
              <a:ext uri="{FF2B5EF4-FFF2-40B4-BE49-F238E27FC236}">
                <a16:creationId xmlns:a16="http://schemas.microsoft.com/office/drawing/2014/main" id="{9402717F-2A94-4716-B917-A6992792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800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可观测与告警中心</a:t>
            </a:r>
          </a:p>
        </p:txBody>
      </p:sp>
      <p:sp>
        <p:nvSpPr>
          <p:cNvPr id="51" name="prometheus">
            <a:extLst xmlns:a="http://schemas.openxmlformats.org/drawingml/2006/main">
              <a:ext uri="{FF2B5EF4-FFF2-40B4-BE49-F238E27FC236}">
                <a16:creationId xmlns:a16="http://schemas.microsoft.com/office/drawing/2014/main" id="{DC7D8794-37FB-490F-AC96-CE7BBEC2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7286625"/>
            <a:ext cx="31242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Prometheus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集群 / 服务 / 推理指标采集</a:t>
            </a:r>
          </a:p>
        </p:txBody>
      </p:sp>
      <p:sp>
        <p:nvSpPr>
          <p:cNvPr id="52" name="grafana">
            <a:extLst xmlns:a="http://schemas.openxmlformats.org/drawingml/2006/main">
              <a:ext uri="{FF2B5EF4-FFF2-40B4-BE49-F238E27FC236}">
                <a16:creationId xmlns:a16="http://schemas.microsoft.com/office/drawing/2014/main" id="{5ACF8D6D-8799-4695-B191-52360C79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8058150"/>
            <a:ext cx="1504950" cy="866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Grafana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多租户看板</a:t>
            </a:r>
          </a:p>
        </p:txBody>
      </p:sp>
      <p:sp>
        <p:nvSpPr>
          <p:cNvPr id="53" name="alert-rules">
            <a:extLst xmlns:a="http://schemas.openxmlformats.org/drawingml/2006/main">
              <a:ext uri="{FF2B5EF4-FFF2-40B4-BE49-F238E27FC236}">
                <a16:creationId xmlns:a16="http://schemas.microsoft.com/office/drawing/2014/main" id="{EFE5CFB1-7F1B-46C8-98BA-37B51DC0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058150"/>
            <a:ext cx="1504950" cy="866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Alert Rules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资源 / 延迟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流量 / 异常</a:t>
            </a:r>
          </a:p>
        </p:txBody>
      </p:sp>
      <p:cxnSp>
        <p:nvCxnSpPr>
          <p:cNvPr id="12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286500" y="18669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479C9"/>
            </a:solidFill>
            <a:prstDash val="solid"/>
            <a:tailEnd type="triangle" w="sm" len="sm"/>
          </a:ln>
        </p:spPr>
      </p:cxnSp>
      <p:cxnSp>
        <p:nvCxnSpPr>
          <p:cNvPr id="124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300538" y="2352675"/>
            <a:ext cx="557213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25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752975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26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9629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27" name=""/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08585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37922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7610475" y="6448425"/>
            <a:ext cx="8262938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39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3268325" y="8020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872D"/>
            </a:solidFill>
            <a:prstDash val="dash"/>
            <a:tailEnd type="triangle" w="sm" len="sm"/>
          </a:ln>
        </p:spPr>
      </p:cxnSp>
      <p:cxnSp>
        <p:nvCxnSpPr>
          <p:cNvPr id="131" name=""/>
          <p:cNvCxnSpPr>
            <a:stCxn xmlns:a="http://schemas.openxmlformats.org/drawingml/2006/main" id="53" idx="0"/>
            <a:endCxn xmlns:a="http://schemas.openxmlformats.org/drawingml/2006/main" id="51" idx="2"/>
          </p:cNvCxnSpPr>
          <p:nvPr/>
        </p:nvCxnSpPr>
        <p:spPr>
          <a:xfrm xmlns:a="http://schemas.openxmlformats.org/drawingml/2006/main" flipH="1" flipV="1">
            <a:off x="15440025" y="7915275"/>
            <a:ext cx="80962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872D"/>
            </a:solidFill>
            <a:prstDash val="dash"/>
            <a:tailEnd type="triangle" w="sm" len="sm"/>
          </a:ln>
        </p:spPr>
      </p:cxnSp>
      <p:sp>
        <p:nvSpPr>
          <p:cNvPr id="63" name="flow-1">
            <a:extLst xmlns:a="http://schemas.openxmlformats.org/drawingml/2006/main">
              <a:ext uri="{FF2B5EF4-FFF2-40B4-BE49-F238E27FC236}">
                <a16:creationId xmlns:a16="http://schemas.microsoft.com/office/drawing/2014/main" id="{9ECA57C1-78E9-40F6-9C96-00448561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① 登录 / 创建服务</a:t>
            </a:r>
          </a:p>
        </p:txBody>
      </p:sp>
      <p:sp>
        <p:nvSpPr>
          <p:cNvPr id="64" name="flow-2">
            <a:extLst xmlns:a="http://schemas.openxmlformats.org/drawingml/2006/main">
              <a:ext uri="{FF2B5EF4-FFF2-40B4-BE49-F238E27FC236}">
                <a16:creationId xmlns:a16="http://schemas.microsoft.com/office/drawing/2014/main" id="{2D9C1FA2-188D-4299-A31A-D1551241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② 构建</a:t>
            </a:r>
          </a:p>
        </p:txBody>
      </p:sp>
      <p:sp>
        <p:nvSpPr>
          <p:cNvPr id="65" name="flow-3">
            <a:extLst xmlns:a="http://schemas.openxmlformats.org/drawingml/2006/main">
              <a:ext uri="{FF2B5EF4-FFF2-40B4-BE49-F238E27FC236}">
                <a16:creationId xmlns:a16="http://schemas.microsoft.com/office/drawing/2014/main" id="{4B4F38E4-B5B4-41B0-BD91-474EA23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③ 推送镜像</a:t>
            </a:r>
          </a:p>
        </p:txBody>
      </p:sp>
      <p:sp>
        <p:nvSpPr>
          <p:cNvPr id="66" name="flow-4">
            <a:extLst xmlns:a="http://schemas.openxmlformats.org/drawingml/2006/main">
              <a:ext uri="{FF2B5EF4-FFF2-40B4-BE49-F238E27FC236}">
                <a16:creationId xmlns:a16="http://schemas.microsoft.com/office/drawing/2014/main" id="{C14ADADA-B365-45B7-99DB-72890646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④ 写入声明</a:t>
            </a:r>
          </a:p>
        </p:txBody>
      </p:sp>
      <p:sp>
        <p:nvSpPr>
          <p:cNvPr id="67" name="flow-5">
            <a:extLst xmlns:a="http://schemas.openxmlformats.org/drawingml/2006/main">
              <a:ext uri="{FF2B5EF4-FFF2-40B4-BE49-F238E27FC236}">
                <a16:creationId xmlns:a16="http://schemas.microsoft.com/office/drawing/2014/main" id="{51694C2D-0F3A-4D0E-A640-E95F78BE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⑤ 持续同步</a:t>
            </a:r>
          </a:p>
        </p:txBody>
      </p:sp>
      <p:sp>
        <p:nvSpPr>
          <p:cNvPr id="68" name="flow-7">
            <a:extLst xmlns:a="http://schemas.openxmlformats.org/drawingml/2006/main">
              <a:ext uri="{FF2B5EF4-FFF2-40B4-BE49-F238E27FC236}">
                <a16:creationId xmlns:a16="http://schemas.microsoft.com/office/drawing/2014/main" id="{74A73FA8-3C88-4C1C-8506-4E9EF051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83058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⑦ Metrics</a:t>
            </a:r>
          </a:p>
        </p:txBody>
      </p:sp>
      <p:sp>
        <p:nvSpPr>
          <p:cNvPr id="69" name="security-footer">
            <a:extLst xmlns:a="http://schemas.openxmlformats.org/drawingml/2006/main">
              <a:ext uri="{FF2B5EF4-FFF2-40B4-BE49-F238E27FC236}">
                <a16:creationId xmlns:a16="http://schemas.microsoft.com/office/drawing/2014/main" id="{E0FABF83-CB10-43DF-8EFC-49D0491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582150"/>
            <a:ext cx="153733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17324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双层安全体系：平台层 JWT + Redis 认证　｜　集群层 Kubernetes RBAC 授权　｜　Namespace 级资源与权限隔离</a:t>
            </a:r>
          </a:p>
        </p:txBody>
      </p:sp>
    </p:spTree>
    <p:extLst>
      <p:ext uri="{BB962C8B-B14F-4D97-AF65-F5344CB8AC3E}">
        <p14:creationId xmlns:p14="http://schemas.microsoft.com/office/powerpoint/2010/main" val="1854955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2026-08-25T03:44:14.5980000Z</dcterms:created>
  <dcterms:modified xsi:type="dcterms:W3CDTF">2026-08-25T03:44:14.5980000Z</dcterms:modified>
</coreProperties>
</file>