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b6ddadb04d4f44" /><Relationship Type="http://schemas.openxmlformats.org/officeDocument/2006/relationships/extended-properties" Target="/docProps/app.xml" Id="R6ab3a36ccfde4ed7" /><Relationship Type="http://schemas.openxmlformats.org/officeDocument/2006/relationships/officeDocument" Target="/ppt/presentation.xml" Id="R80db4336ef2449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5b1c1d3b8a49ef"/>
  </p:sldMasterIdLst>
  <p:notesMasterIdLst>
    <p:notesMasterId xmlns:r="http://schemas.openxmlformats.org/officeDocument/2006/relationships" r:id="R71283cdcb0574a8a"/>
  </p:notesMasterIdLst>
  <p:sldIdLst>
    <p:sldId xmlns:r="http://schemas.openxmlformats.org/officeDocument/2006/relationships" id="256" r:id="Rea991d1bcdf84695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8d0389e9c64313" /><Relationship Type="http://schemas.openxmlformats.org/officeDocument/2006/relationships/slideMaster" Target="/ppt/slideMasters/slideMaster1.xml" Id="Rac5b1c1d3b8a49ef" /><Relationship Type="http://schemas.openxmlformats.org/officeDocument/2006/relationships/notesMaster" Target="/ppt/notesMasters/notesMaster1.xml" Id="R71283cdcb0574a8a" /><Relationship Type="http://schemas.openxmlformats.org/officeDocument/2006/relationships/presProps" Target="/ppt/presProps.xml" Id="R30fe4bf4ba8c4d55" /><Relationship Type="http://schemas.openxmlformats.org/officeDocument/2006/relationships/tableStyles" Target="/ppt/tableStyles.xml" Id="Rb21b414b54ab4b75" /><Relationship Type="http://schemas.openxmlformats.org/officeDocument/2006/relationships/slide" Target="/ppt/slides/slide1.xml" Id="Rea991d1bcdf846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e0573205e44a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118bf9a6554bbf" /><Relationship Type="http://schemas.openxmlformats.org/officeDocument/2006/relationships/notesMaster" Target="/ppt/notesMasters/notesMaster1.xml" Id="Rd8466e1a72c342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description and previously created architecture visual; no external sources.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d287419bfc4b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36b17c782244bb" /><Relationship Type="http://schemas.openxmlformats.org/officeDocument/2006/relationships/slideLayout" Target="/ppt/slideLayouts/slideLayout1.xml" Id="R5b45bba80bff49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45bba80bff49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045b6030e4c30" /><Relationship Type="http://schemas.openxmlformats.org/officeDocument/2006/relationships/notesSlide" Target="/ppt/notesSlides/notesSlide1.xml" Id="R3e8fed959f5048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header">
            <a:extLst xmlns:a="http://schemas.openxmlformats.org/drawingml/2006/main">
              <a:ext uri="{FF2B5EF4-FFF2-40B4-BE49-F238E27FC236}">
                <a16:creationId xmlns:a16="http://schemas.microsoft.com/office/drawing/2014/main" id="{B3F0F4C9-7A2B-4522-82AB-E0B6104A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93"/>
          </a:solidFill>
          <a:ln xmlns:a="http://schemas.openxmlformats.org/drawingml/2006/main" w="0">
            <a:solidFill>
              <a:srgbClr val="0B4F93"/>
            </a:solidFill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4BF3F9-5BD4-4F7B-8404-16CF3FA4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 Kubernetes 的智能算力服务化平台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5E7E4F6-699A-4CED-B33B-74B94D34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239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75397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9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D8E9F8"/>
                </a:solidFill>
                <a:latin typeface="Microsoft YaHei"/>
                <a:ea typeface="Microsoft YaHei"/>
                <a:cs typeface="Microsoft YaHei"/>
              </a:rPr>
              <a:t>镜像标准化 · GitOps 自动交付 · 多租户资源隔离 · 统一流量治理 · 全栈可观测</a:t>
            </a:r>
          </a:p>
        </p:txBody>
      </p:sp>
      <p:sp>
        <p:nvSpPr>
          <p:cNvPr id="4" name="cyan-divider">
            <a:extLst xmlns:a="http://schemas.openxmlformats.org/drawingml/2006/main">
              <a:ext uri="{FF2B5EF4-FFF2-40B4-BE49-F238E27FC236}">
                <a16:creationId xmlns:a16="http://schemas.microsoft.com/office/drawing/2014/main" id="{11DF2CB2-B074-47FD-9164-4AE036F2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18288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7D7"/>
          </a:solidFill>
          <a:ln xmlns:a="http://schemas.openxmlformats.org/drawingml/2006/main" w="0">
            <a:solidFill>
              <a:srgbClr val="2CB7D7"/>
            </a:solidFill>
            <a:prstDash val="solid"/>
          </a:ln>
        </p:spPr>
      </p:sp>
      <p:sp>
        <p:nvSpPr>
          <p:cNvPr id="5" name="target-state">
            <a:extLst xmlns:a="http://schemas.openxmlformats.org/drawingml/2006/main">
              <a:ext uri="{FF2B5EF4-FFF2-40B4-BE49-F238E27FC236}">
                <a16:creationId xmlns:a16="http://schemas.microsoft.com/office/drawing/2014/main" id="{8E631E43-83FD-4ED8-BF30-E3A76F8F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0" y="285750"/>
            <a:ext cx="13335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397CB6"/>
          </a:solidFill>
          <a:ln xmlns:a="http://schemas.openxmlformats.org/drawingml/2006/main" w="19050">
            <a:solidFill>
              <a:srgbClr val="397CB6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目标态架构</a:t>
            </a:r>
          </a:p>
        </p:txBody>
      </p:sp>
      <p:sp>
        <p:nvSpPr>
          <p:cNvPr id="6" name="layer-访问层">
            <a:extLst xmlns:a="http://schemas.openxmlformats.org/drawingml/2006/main">
              <a:ext uri="{FF2B5EF4-FFF2-40B4-BE49-F238E27FC236}">
                <a16:creationId xmlns:a16="http://schemas.microsoft.com/office/drawing/2014/main" id="{DADACC39-4C20-4501-B776-343CA97D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81125"/>
            <a:ext cx="12192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D8EDF9"/>
          </a:solidFill>
          <a:ln xmlns:a="http://schemas.openxmlformats.org/drawingml/2006/main" w="19050">
            <a:solidFill>
              <a:srgbClr val="D8EDF9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访问层</a:t>
            </a:r>
          </a:p>
        </p:txBody>
      </p:sp>
      <p:sp>
        <p:nvSpPr>
          <p:cNvPr id="7" name="layer-平台控制层">
            <a:extLst xmlns:a="http://schemas.openxmlformats.org/drawingml/2006/main">
              <a:ext uri="{FF2B5EF4-FFF2-40B4-BE49-F238E27FC236}">
                <a16:creationId xmlns:a16="http://schemas.microsoft.com/office/drawing/2014/main" id="{2EEF8D20-9DD9-4550-ADBD-517FCE28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571750"/>
            <a:ext cx="1219200" cy="2333625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E2F6"/>
          </a:solidFill>
          <a:ln xmlns:a="http://schemas.openxmlformats.org/drawingml/2006/main" w="19050">
            <a:solidFill>
              <a:srgbClr val="E8E2F6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平台控制层</a:t>
            </a:r>
          </a:p>
        </p:txBody>
      </p:sp>
      <p:sp>
        <p:nvSpPr>
          <p:cNvPr id="8" name="layer-交付链路">
            <a:extLst xmlns:a="http://schemas.openxmlformats.org/drawingml/2006/main">
              <a:ext uri="{FF2B5EF4-FFF2-40B4-BE49-F238E27FC236}">
                <a16:creationId xmlns:a16="http://schemas.microsoft.com/office/drawing/2014/main" id="{7C1FDDAC-2B3A-4B7F-8243-CD42AC07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5124450"/>
            <a:ext cx="1219200" cy="1323975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2F2EA"/>
          </a:solidFill>
          <a:ln xmlns:a="http://schemas.openxmlformats.org/drawingml/2006/main" w="19050">
            <a:solidFill>
              <a:srgbClr val="E2F2EA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交付链路</a:t>
            </a:r>
          </a:p>
        </p:txBody>
      </p:sp>
      <p:sp>
        <p:nvSpPr>
          <p:cNvPr id="9" name="layer-运行与观测层">
            <a:extLst xmlns:a="http://schemas.openxmlformats.org/drawingml/2006/main">
              <a:ext uri="{FF2B5EF4-FFF2-40B4-BE49-F238E27FC236}">
                <a16:creationId xmlns:a16="http://schemas.microsoft.com/office/drawing/2014/main" id="{4234690C-40AC-45B6-B2C3-241872AB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67500"/>
            <a:ext cx="1219200" cy="27051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DC"/>
          </a:solidFill>
          <a:ln xmlns:a="http://schemas.openxmlformats.org/drawingml/2006/main" w="19050">
            <a:solidFill>
              <a:srgbClr val="FFF0DC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运行与观测层</a:t>
            </a:r>
          </a:p>
        </p:txBody>
      </p:sp>
      <p:sp>
        <p:nvSpPr>
          <p:cNvPr id="10" name="platform-user">
            <a:extLst xmlns:a="http://schemas.openxmlformats.org/drawingml/2006/main">
              <a:ext uri="{FF2B5EF4-FFF2-40B4-BE49-F238E27FC236}">
                <a16:creationId xmlns:a16="http://schemas.microsoft.com/office/drawing/2014/main" id="{06FA4DFB-45A0-4DAA-8207-A54BB32E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381125"/>
            <a:ext cx="22479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BAF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平台用户 / 租户</a:t>
            </a:r>
          </a:p>
        </p:txBody>
      </p:sp>
      <p:sp>
        <p:nvSpPr>
          <p:cNvPr id="11" name="unified-entry">
            <a:extLst xmlns:a="http://schemas.openxmlformats.org/drawingml/2006/main">
              <a:ext uri="{FF2B5EF4-FFF2-40B4-BE49-F238E27FC236}">
                <a16:creationId xmlns:a16="http://schemas.microsoft.com/office/drawing/2014/main" id="{66B51F3D-9D11-48E6-8CAC-19F8F17D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381125"/>
            <a:ext cx="289560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BAF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统一访问入口</a:t>
            </a:r>
          </a:p>
          <a:p xmlns:a="http://schemas.openxmlformats.org/drawingml/2006/main">
            <a:pPr algn="ctr">
              <a:def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Ingress Controller · HTTPS / 域名 / 路径路由</a:t>
            </a:r>
          </a:p>
        </p:txBody>
      </p:sp>
      <p:sp>
        <p:nvSpPr>
          <p:cNvPr id="12" name="ai-inference">
            <a:extLst xmlns:a="http://schemas.openxmlformats.org/drawingml/2006/main">
              <a:ext uri="{FF2B5EF4-FFF2-40B4-BE49-F238E27FC236}">
                <a16:creationId xmlns:a16="http://schemas.microsoft.com/office/drawing/2014/main" id="{9382493D-97D4-4CAF-A37F-A297A142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6425" y="1381125"/>
            <a:ext cx="4019550" cy="971550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BAF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AI 推理工作负载</a:t>
            </a:r>
          </a:p>
          <a:p xmlns:a="http://schemas.openxmlformats.org/drawingml/2006/main">
            <a:pPr algn="ctr">
              <a:def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Service · Ready Pod · CPU / GPU</a:t>
            </a:r>
          </a:p>
        </p:txBody>
      </p:sp>
      <p:sp>
        <p:nvSpPr>
          <p:cNvPr id="13" name="go-control-plane">
            <a:extLst xmlns:a="http://schemas.openxmlformats.org/drawingml/2006/main">
              <a:ext uri="{FF2B5EF4-FFF2-40B4-BE49-F238E27FC236}">
                <a16:creationId xmlns:a16="http://schemas.microsoft.com/office/drawing/2014/main" id="{6E0CE4ED-7670-421E-9BAC-4D0A1961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571750"/>
            <a:ext cx="15373350" cy="2333625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D8BC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control-plane-header">
            <a:extLst xmlns:a="http://schemas.openxmlformats.org/drawingml/2006/main">
              <a:ext uri="{FF2B5EF4-FFF2-40B4-BE49-F238E27FC236}">
                <a16:creationId xmlns:a16="http://schemas.microsoft.com/office/drawing/2014/main" id="{9E660265-7B4F-409D-97E2-DDF3A33D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590800"/>
            <a:ext cx="1533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2F6"/>
          </a:solidFill>
          <a:ln xmlns:a="http://schemas.openxmlformats.org/drawingml/2006/main" w="0">
            <a:solidFill>
              <a:srgbClr val="E8E2F6"/>
            </a:solidFill>
            <a:prstDash val="solid"/>
          </a:ln>
        </p:spPr>
      </p:sp>
      <p:sp>
        <p:nvSpPr>
          <p:cNvPr id="15" name="control-plane-title">
            <a:extLst xmlns:a="http://schemas.openxmlformats.org/drawingml/2006/main">
              <a:ext uri="{FF2B5EF4-FFF2-40B4-BE49-F238E27FC236}">
                <a16:creationId xmlns:a16="http://schemas.microsoft.com/office/drawing/2014/main" id="{E1F23B73-53F8-4BE5-8EC2-F4A9C79C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289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Go 平台控制面（REST API + client-go）</a:t>
            </a:r>
          </a:p>
        </p:txBody>
      </p:sp>
      <p:sp>
        <p:nvSpPr>
          <p:cNvPr id="16" name="auth-tenant">
            <a:extLst xmlns:a="http://schemas.openxmlformats.org/drawingml/2006/main">
              <a:ext uri="{FF2B5EF4-FFF2-40B4-BE49-F238E27FC236}">
                <a16:creationId xmlns:a16="http://schemas.microsoft.com/office/drawing/2014/main" id="{DB73BED2-EBBF-488E-8881-E1D1A7BD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267075"/>
            <a:ext cx="2667000" cy="127635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F8F5FC"/>
          </a:solidFill>
          <a:ln xmlns:a="http://schemas.openxmlformats.org/drawingml/2006/main" w="19050">
            <a:solidFill>
              <a:srgbClr val="B5A6D4"/>
            </a:solidFill>
            <a:prstDash val="solid"/>
          </a:ln>
        </p:spPr>
      </p:sp>
      <p:sp>
        <p:nvSpPr>
          <p:cNvPr id="17" name="auth-tenant-title">
            <a:extLst xmlns:a="http://schemas.openxmlformats.org/drawingml/2006/main">
              <a:ext uri="{FF2B5EF4-FFF2-40B4-BE49-F238E27FC236}">
                <a16:creationId xmlns:a16="http://schemas.microsoft.com/office/drawing/2014/main" id="{6AF85AFB-E892-4E5E-B32D-D22065D0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381375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认证与租户管理</a:t>
            </a:r>
          </a:p>
        </p:txBody>
      </p:sp>
      <p:sp>
        <p:nvSpPr>
          <p:cNvPr id="18" name="auth-tenant-body">
            <a:extLst xmlns:a="http://schemas.openxmlformats.org/drawingml/2006/main">
              <a:ext uri="{FF2B5EF4-FFF2-40B4-BE49-F238E27FC236}">
                <a16:creationId xmlns:a16="http://schemas.microsoft.com/office/drawing/2014/main" id="{D18E707A-C8B5-4252-ACC2-041B30B98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71475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JWT + Redis 会话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用户 / 租户 / 项目空间</a:t>
            </a:r>
          </a:p>
        </p:txBody>
      </p:sp>
      <p:sp>
        <p:nvSpPr>
          <p:cNvPr id="19" name="image-build">
            <a:extLst xmlns:a="http://schemas.openxmlformats.org/drawingml/2006/main">
              <a:ext uri="{FF2B5EF4-FFF2-40B4-BE49-F238E27FC236}">
                <a16:creationId xmlns:a16="http://schemas.microsoft.com/office/drawing/2014/main" id="{1F115CCF-C2ED-4CEB-95A2-71210799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267075"/>
            <a:ext cx="2667000" cy="127635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F8F5FC"/>
          </a:solidFill>
          <a:ln xmlns:a="http://schemas.openxmlformats.org/drawingml/2006/main" w="19050">
            <a:solidFill>
              <a:srgbClr val="B5A6D4"/>
            </a:solidFill>
            <a:prstDash val="solid"/>
          </a:ln>
        </p:spPr>
      </p:sp>
      <p:sp>
        <p:nvSpPr>
          <p:cNvPr id="20" name="image-build-title">
            <a:extLst xmlns:a="http://schemas.openxmlformats.org/drawingml/2006/main">
              <a:ext uri="{FF2B5EF4-FFF2-40B4-BE49-F238E27FC236}">
                <a16:creationId xmlns:a16="http://schemas.microsoft.com/office/drawing/2014/main" id="{A2146502-2D73-4015-97E2-FCAB277F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381375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镜像构建服务</a:t>
            </a:r>
          </a:p>
        </p:txBody>
      </p:sp>
      <p:sp>
        <p:nvSpPr>
          <p:cNvPr id="21" name="image-build-body">
            <a:extLst xmlns:a="http://schemas.openxmlformats.org/drawingml/2006/main">
              <a:ext uri="{FF2B5EF4-FFF2-40B4-BE49-F238E27FC236}">
                <a16:creationId xmlns:a16="http://schemas.microsoft.com/office/drawing/2014/main" id="{BADFD64D-FF4E-4B34-A987-050469B1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71475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Dockerfile 模板化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构建日志 · 制品交付</a:t>
            </a:r>
          </a:p>
        </p:txBody>
      </p:sp>
      <p:sp>
        <p:nvSpPr>
          <p:cNvPr id="22" name="k8s-orchestrator">
            <a:extLst xmlns:a="http://schemas.openxmlformats.org/drawingml/2006/main">
              <a:ext uri="{FF2B5EF4-FFF2-40B4-BE49-F238E27FC236}">
                <a16:creationId xmlns:a16="http://schemas.microsoft.com/office/drawing/2014/main" id="{D14A2253-379B-4C73-A7F9-502F0944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267075"/>
            <a:ext cx="3200400" cy="127635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F8F5FC"/>
          </a:solidFill>
          <a:ln xmlns:a="http://schemas.openxmlformats.org/drawingml/2006/main" w="19050">
            <a:solidFill>
              <a:srgbClr val="B5A6D4"/>
            </a:solidFill>
            <a:prstDash val="solid"/>
          </a:ln>
        </p:spPr>
      </p:sp>
      <p:sp>
        <p:nvSpPr>
          <p:cNvPr id="23" name="k8s-orchestrator-title">
            <a:extLst xmlns:a="http://schemas.openxmlformats.org/drawingml/2006/main">
              <a:ext uri="{FF2B5EF4-FFF2-40B4-BE49-F238E27FC236}">
                <a16:creationId xmlns:a16="http://schemas.microsoft.com/office/drawing/2014/main" id="{EFD7B7C9-F968-42D6-9FB2-174EE062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381375"/>
            <a:ext cx="3009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Kubernetes 编排器</a:t>
            </a:r>
          </a:p>
        </p:txBody>
      </p:sp>
      <p:sp>
        <p:nvSpPr>
          <p:cNvPr id="24" name="k8s-orchestrator-body">
            <a:extLst xmlns:a="http://schemas.openxmlformats.org/drawingml/2006/main">
              <a:ext uri="{FF2B5EF4-FFF2-40B4-BE49-F238E27FC236}">
                <a16:creationId xmlns:a16="http://schemas.microsoft.com/office/drawing/2014/main" id="{10E79D85-633C-412D-BF4E-BDB70ED1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714750"/>
            <a:ext cx="3009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Namespace · Quota · LimitRange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ServiceAccount · RBAC · CPU / 内存 / GPU</a:t>
            </a:r>
          </a:p>
        </p:txBody>
      </p:sp>
      <p:sp>
        <p:nvSpPr>
          <p:cNvPr id="25" name="gitops-manager">
            <a:extLst xmlns:a="http://schemas.openxmlformats.org/drawingml/2006/main">
              <a:ext uri="{FF2B5EF4-FFF2-40B4-BE49-F238E27FC236}">
                <a16:creationId xmlns:a16="http://schemas.microsoft.com/office/drawing/2014/main" id="{856D5CC3-7A12-442F-A852-73A3D51B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5275" y="3267075"/>
            <a:ext cx="2552700" cy="127635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F8F5FC"/>
          </a:solidFill>
          <a:ln xmlns:a="http://schemas.openxmlformats.org/drawingml/2006/main" w="19050">
            <a:solidFill>
              <a:srgbClr val="B5A6D4"/>
            </a:solidFill>
            <a:prstDash val="solid"/>
          </a:ln>
        </p:spPr>
      </p:sp>
      <p:sp>
        <p:nvSpPr>
          <p:cNvPr id="26" name="gitops-manager-title">
            <a:extLst xmlns:a="http://schemas.openxmlformats.org/drawingml/2006/main">
              <a:ext uri="{FF2B5EF4-FFF2-40B4-BE49-F238E27FC236}">
                <a16:creationId xmlns:a16="http://schemas.microsoft.com/office/drawing/2014/main" id="{D7AAA7FB-8739-4C42-8C74-B3D7F3D6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0525" y="3381375"/>
            <a:ext cx="2362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GitOps 发布管理</a:t>
            </a:r>
          </a:p>
        </p:txBody>
      </p:sp>
      <p:sp>
        <p:nvSpPr>
          <p:cNvPr id="27" name="gitops-manager-body">
            <a:extLst xmlns:a="http://schemas.openxmlformats.org/drawingml/2006/main">
              <a:ext uri="{FF2B5EF4-FFF2-40B4-BE49-F238E27FC236}">
                <a16:creationId xmlns:a16="http://schemas.microsoft.com/office/drawing/2014/main" id="{D43C3DBE-2402-4488-A707-9C2460D1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0525" y="3714750"/>
            <a:ext cx="2362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配置生成 · 版本追踪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发布 / 回滚 / 状态同步</a:t>
            </a:r>
          </a:p>
        </p:txBody>
      </p:sp>
      <p:sp>
        <p:nvSpPr>
          <p:cNvPr id="28" name="service-governance">
            <a:extLst xmlns:a="http://schemas.openxmlformats.org/drawingml/2006/main">
              <a:ext uri="{FF2B5EF4-FFF2-40B4-BE49-F238E27FC236}">
                <a16:creationId xmlns:a16="http://schemas.microsoft.com/office/drawing/2014/main" id="{341614AF-FBD4-483A-9CE1-2828BECF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3267075"/>
            <a:ext cx="2419350" cy="127635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F8F5FC"/>
          </a:solidFill>
          <a:ln xmlns:a="http://schemas.openxmlformats.org/drawingml/2006/main" w="19050">
            <a:solidFill>
              <a:srgbClr val="B5A6D4"/>
            </a:solidFill>
            <a:prstDash val="solid"/>
          </a:ln>
        </p:spPr>
      </p:sp>
      <p:sp>
        <p:nvSpPr>
          <p:cNvPr id="29" name="service-governance-title">
            <a:extLst xmlns:a="http://schemas.openxmlformats.org/drawingml/2006/main">
              <a:ext uri="{FF2B5EF4-FFF2-40B4-BE49-F238E27FC236}">
                <a16:creationId xmlns:a16="http://schemas.microsoft.com/office/drawing/2014/main" id="{BA59A8E0-3C05-4B4A-8C78-7FCB387A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025" y="3381375"/>
            <a:ext cx="2228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服务发布与治理</a:t>
            </a:r>
          </a:p>
        </p:txBody>
      </p:sp>
      <p:sp>
        <p:nvSpPr>
          <p:cNvPr id="30" name="service-governance-body">
            <a:extLst xmlns:a="http://schemas.openxmlformats.org/drawingml/2006/main">
              <a:ext uri="{FF2B5EF4-FFF2-40B4-BE49-F238E27FC236}">
                <a16:creationId xmlns:a16="http://schemas.microsoft.com/office/drawing/2014/main" id="{999A18E3-4346-401E-B970-8B9B0DA0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025" y="3714750"/>
            <a:ext cx="2228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Service / Ingress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路由策略 · Probe / EndpointSlice</a:t>
            </a:r>
          </a:p>
        </p:txBody>
      </p:sp>
      <p:sp>
        <p:nvSpPr>
          <p:cNvPr id="31" name="source-assets">
            <a:extLst xmlns:a="http://schemas.openxmlformats.org/drawingml/2006/main">
              <a:ext uri="{FF2B5EF4-FFF2-40B4-BE49-F238E27FC236}">
                <a16:creationId xmlns:a16="http://schemas.microsoft.com/office/drawing/2014/main" id="{96D0B999-2232-4B77-93D2-FFADFBFC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24450"/>
            <a:ext cx="2800350" cy="1323975"/>
          </a:xfrm>
          <a:prstGeom xmlns:a="http://schemas.openxmlformats.org/drawingml/2006/main" prst="roundRect">
            <a:avLst>
              <a:gd name="adj" fmla="val 10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5A985"/>
            </a:solidFill>
            <a:prstDash val="solid"/>
          </a:ln>
        </p:spPr>
      </p:sp>
      <p:sp>
        <p:nvSpPr>
          <p:cNvPr id="32" name="source-assets-title">
            <a:extLst xmlns:a="http://schemas.openxmlformats.org/drawingml/2006/main">
              <a:ext uri="{FF2B5EF4-FFF2-40B4-BE49-F238E27FC236}">
                <a16:creationId xmlns:a16="http://schemas.microsoft.com/office/drawing/2014/main" id="{E2952DC5-9BBA-4A20-A520-110171E4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238750"/>
            <a:ext cx="2609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源码与模型资产</a:t>
            </a:r>
          </a:p>
        </p:txBody>
      </p:sp>
      <p:sp>
        <p:nvSpPr>
          <p:cNvPr id="33" name="source-assets-body">
            <a:extLst xmlns:a="http://schemas.openxmlformats.org/drawingml/2006/main">
              <a:ext uri="{FF2B5EF4-FFF2-40B4-BE49-F238E27FC236}">
                <a16:creationId xmlns:a16="http://schemas.microsoft.com/office/drawing/2014/main" id="{B29822F4-7529-47E9-AF3A-2040F5155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72125"/>
            <a:ext cx="26098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Git 仓库 · 模型文件 · Dockerfile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提交触发构建 / 发布</a:t>
            </a:r>
          </a:p>
        </p:txBody>
      </p:sp>
      <p:sp>
        <p:nvSpPr>
          <p:cNvPr id="34" name="docker-pipeline">
            <a:extLst xmlns:a="http://schemas.openxmlformats.org/drawingml/2006/main">
              <a:ext uri="{FF2B5EF4-FFF2-40B4-BE49-F238E27FC236}">
                <a16:creationId xmlns:a16="http://schemas.microsoft.com/office/drawing/2014/main" id="{048A6C42-A556-47FB-9E64-FCAD67BCC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124450"/>
            <a:ext cx="2581275" cy="1323975"/>
          </a:xfrm>
          <a:prstGeom xmlns:a="http://schemas.openxmlformats.org/drawingml/2006/main" prst="roundRect">
            <a:avLst>
              <a:gd name="adj" fmla="val 10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5A985"/>
            </a:solidFill>
            <a:prstDash val="solid"/>
          </a:ln>
        </p:spPr>
      </p:sp>
      <p:sp>
        <p:nvSpPr>
          <p:cNvPr id="35" name="docker-pipeline-title">
            <a:extLst xmlns:a="http://schemas.openxmlformats.org/drawingml/2006/main">
              <a:ext uri="{FF2B5EF4-FFF2-40B4-BE49-F238E27FC236}">
                <a16:creationId xmlns:a16="http://schemas.microsoft.com/office/drawing/2014/main" id="{E49BDF51-08B4-4BA5-81C1-622029EC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238750"/>
            <a:ext cx="2390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Docker 构建流水线</a:t>
            </a:r>
          </a:p>
        </p:txBody>
      </p:sp>
      <p:sp>
        <p:nvSpPr>
          <p:cNvPr id="36" name="docker-pipeline-body">
            <a:extLst xmlns:a="http://schemas.openxmlformats.org/drawingml/2006/main">
              <a:ext uri="{FF2B5EF4-FFF2-40B4-BE49-F238E27FC236}">
                <a16:creationId xmlns:a16="http://schemas.microsoft.com/office/drawing/2014/main" id="{4A299151-5ACF-477E-906C-E332EB7B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572125"/>
            <a:ext cx="23907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标准基础镜像 · 依赖固化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镜像构建 + 镜像扫描</a:t>
            </a:r>
          </a:p>
        </p:txBody>
      </p:sp>
      <p:sp>
        <p:nvSpPr>
          <p:cNvPr id="37" name="harbor">
            <a:extLst xmlns:a="http://schemas.openxmlformats.org/drawingml/2006/main">
              <a:ext uri="{FF2B5EF4-FFF2-40B4-BE49-F238E27FC236}">
                <a16:creationId xmlns:a16="http://schemas.microsoft.com/office/drawing/2014/main" id="{0040364C-5344-46DD-B1BC-301F1D5E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124450"/>
            <a:ext cx="2266950" cy="1323975"/>
          </a:xfrm>
          <a:prstGeom xmlns:a="http://schemas.openxmlformats.org/drawingml/2006/main" prst="roundRect">
            <a:avLst>
              <a:gd name="adj" fmla="val 10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5A985"/>
            </a:solidFill>
            <a:prstDash val="solid"/>
          </a:ln>
        </p:spPr>
      </p:sp>
      <p:sp>
        <p:nvSpPr>
          <p:cNvPr id="38" name="harbor-title">
            <a:extLst xmlns:a="http://schemas.openxmlformats.org/drawingml/2006/main">
              <a:ext uri="{FF2B5EF4-FFF2-40B4-BE49-F238E27FC236}">
                <a16:creationId xmlns:a16="http://schemas.microsoft.com/office/drawing/2014/main" id="{2D53EC10-6E41-44D5-8884-76CFBE2C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238750"/>
            <a:ext cx="2076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Harbor</a:t>
            </a:r>
          </a:p>
        </p:txBody>
      </p:sp>
      <p:sp>
        <p:nvSpPr>
          <p:cNvPr id="39" name="harbor-body">
            <a:extLst xmlns:a="http://schemas.openxmlformats.org/drawingml/2006/main">
              <a:ext uri="{FF2B5EF4-FFF2-40B4-BE49-F238E27FC236}">
                <a16:creationId xmlns:a16="http://schemas.microsoft.com/office/drawing/2014/main" id="{9997A3FE-84FD-421E-8FE8-900CCDAE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572125"/>
            <a:ext cx="20764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私有镜像仓库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Tag / 版本 / 制品交付</a:t>
            </a:r>
          </a:p>
        </p:txBody>
      </p:sp>
      <p:sp>
        <p:nvSpPr>
          <p:cNvPr id="40" name="git-config">
            <a:extLst xmlns:a="http://schemas.openxmlformats.org/drawingml/2006/main">
              <a:ext uri="{FF2B5EF4-FFF2-40B4-BE49-F238E27FC236}">
                <a16:creationId xmlns:a16="http://schemas.microsoft.com/office/drawing/2014/main" id="{D565FDBB-7B3F-4D75-A7E7-3F53B96F0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5124450"/>
            <a:ext cx="2305050" cy="1323975"/>
          </a:xfrm>
          <a:prstGeom xmlns:a="http://schemas.openxmlformats.org/drawingml/2006/main" prst="roundRect">
            <a:avLst>
              <a:gd name="adj" fmla="val 10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5A985"/>
            </a:solidFill>
            <a:prstDash val="solid"/>
          </a:ln>
        </p:spPr>
      </p:sp>
      <p:sp>
        <p:nvSpPr>
          <p:cNvPr id="41" name="git-config-title">
            <a:extLst xmlns:a="http://schemas.openxmlformats.org/drawingml/2006/main">
              <a:ext uri="{FF2B5EF4-FFF2-40B4-BE49-F238E27FC236}">
                <a16:creationId xmlns:a16="http://schemas.microsoft.com/office/drawing/2014/main" id="{FA534FD8-9690-4CE9-B2E2-2B867338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238750"/>
            <a:ext cx="2114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Git 配置仓库</a:t>
            </a:r>
          </a:p>
        </p:txBody>
      </p:sp>
      <p:sp>
        <p:nvSpPr>
          <p:cNvPr id="42" name="git-config-body">
            <a:extLst xmlns:a="http://schemas.openxmlformats.org/drawingml/2006/main">
              <a:ext uri="{FF2B5EF4-FFF2-40B4-BE49-F238E27FC236}">
                <a16:creationId xmlns:a16="http://schemas.microsoft.com/office/drawing/2014/main" id="{DBE40FA7-4D84-4EAC-A944-10B81C37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572125"/>
            <a:ext cx="21145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租户化 YAML 清单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唯一事实源 · 可审计回滚</a:t>
            </a:r>
          </a:p>
        </p:txBody>
      </p:sp>
      <p:sp>
        <p:nvSpPr>
          <p:cNvPr id="43" name="argocd-appset">
            <a:extLst xmlns:a="http://schemas.openxmlformats.org/drawingml/2006/main">
              <a:ext uri="{FF2B5EF4-FFF2-40B4-BE49-F238E27FC236}">
                <a16:creationId xmlns:a16="http://schemas.microsoft.com/office/drawing/2014/main" id="{45F09689-D7D4-4B93-9F98-2A87CDDE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20850" y="5124450"/>
            <a:ext cx="2905125" cy="1323975"/>
          </a:xfrm>
          <a:prstGeom xmlns:a="http://schemas.openxmlformats.org/drawingml/2006/main" prst="roundRect">
            <a:avLst>
              <a:gd name="adj" fmla="val 1007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5A985"/>
            </a:solidFill>
            <a:prstDash val="solid"/>
          </a:ln>
        </p:spPr>
      </p:sp>
      <p:sp>
        <p:nvSpPr>
          <p:cNvPr id="44" name="argocd-appset-title">
            <a:extLst xmlns:a="http://schemas.openxmlformats.org/drawingml/2006/main">
              <a:ext uri="{FF2B5EF4-FFF2-40B4-BE49-F238E27FC236}">
                <a16:creationId xmlns:a16="http://schemas.microsoft.com/office/drawing/2014/main" id="{BA2CB5E2-30E1-4ED8-8476-41D260C5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5238750"/>
            <a:ext cx="2714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Argo CD ApplicationSet</a:t>
            </a:r>
          </a:p>
        </p:txBody>
      </p:sp>
      <p:sp>
        <p:nvSpPr>
          <p:cNvPr id="45" name="argocd-appset-body">
            <a:extLst xmlns:a="http://schemas.openxmlformats.org/drawingml/2006/main">
              <a:ext uri="{FF2B5EF4-FFF2-40B4-BE49-F238E27FC236}">
                <a16:creationId xmlns:a16="http://schemas.microsoft.com/office/drawing/2014/main" id="{084C3375-F52C-4800-9145-8C48C444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5572125"/>
            <a:ext cx="2714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按租户生成 Application</a:t>
            </a:r>
          </a:p>
          <a:p xmlns:a="http://schemas.openxmlformats.org/drawingml/2006/main">
            <a:pPr algn="ctr">
              <a:def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自动同步 · 漂移修复 · 回滚</a:t>
            </a:r>
          </a:p>
        </p:txBody>
      </p:sp>
      <p:sp>
        <p:nvSpPr>
          <p:cNvPr id="46" name="kubernetes-cluster">
            <a:extLst xmlns:a="http://schemas.openxmlformats.org/drawingml/2006/main">
              <a:ext uri="{FF2B5EF4-FFF2-40B4-BE49-F238E27FC236}">
                <a16:creationId xmlns:a16="http://schemas.microsoft.com/office/drawing/2014/main" id="{0DCB50BB-9DC4-47FE-BD09-DEF72DAA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667500"/>
            <a:ext cx="11315700" cy="270510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87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7" name="cluster-title">
            <a:extLst xmlns:a="http://schemas.openxmlformats.org/drawingml/2006/main">
              <a:ext uri="{FF2B5EF4-FFF2-40B4-BE49-F238E27FC236}">
                <a16:creationId xmlns:a16="http://schemas.microsoft.com/office/drawing/2014/main" id="{6D033A6F-933C-4C87-BE74-0AB81EA8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68008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Kubernetes 智能算力集群</a:t>
            </a:r>
          </a:p>
        </p:txBody>
      </p:sp>
      <p:sp>
        <p:nvSpPr>
          <p:cNvPr id="48" name="tenant-a">
            <a:extLst xmlns:a="http://schemas.openxmlformats.org/drawingml/2006/main">
              <a:ext uri="{FF2B5EF4-FFF2-40B4-BE49-F238E27FC236}">
                <a16:creationId xmlns:a16="http://schemas.microsoft.com/office/drawing/2014/main" id="{A1F93AF8-059B-47E0-BF13-33F8478F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7248525"/>
            <a:ext cx="521970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9050">
            <a:solidFill>
              <a:srgbClr val="E3AE6D"/>
            </a:solidFill>
            <a:prstDash val="solid"/>
          </a:ln>
        </p:spPr>
      </p:sp>
      <p:sp>
        <p:nvSpPr>
          <p:cNvPr id="49" name="tenant-b">
            <a:extLst xmlns:a="http://schemas.openxmlformats.org/drawingml/2006/main">
              <a:ext uri="{FF2B5EF4-FFF2-40B4-BE49-F238E27FC236}">
                <a16:creationId xmlns:a16="http://schemas.microsoft.com/office/drawing/2014/main" id="{2ECD27AF-2EF1-4755-88ED-BCE3FAF0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7248525"/>
            <a:ext cx="5219700" cy="17526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8EF"/>
          </a:solidFill>
          <a:ln xmlns:a="http://schemas.openxmlformats.org/drawingml/2006/main" w="19050">
            <a:solidFill>
              <a:srgbClr val="E3AE6D"/>
            </a:solidFill>
            <a:prstDash val="solid"/>
          </a:ln>
        </p:spPr>
      </p:sp>
      <p:sp>
        <p:nvSpPr>
          <p:cNvPr id="50" name="tenant-a-head">
            <a:extLst xmlns:a="http://schemas.openxmlformats.org/drawingml/2006/main">
              <a:ext uri="{FF2B5EF4-FFF2-40B4-BE49-F238E27FC236}">
                <a16:creationId xmlns:a16="http://schemas.microsoft.com/office/drawing/2014/main" id="{40B135F7-F6C2-43C3-8FE0-705ED209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7400925"/>
            <a:ext cx="49149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D8AB"/>
          </a:solidFill>
          <a:ln xmlns:a="http://schemas.openxmlformats.org/drawingml/2006/main" w="19050">
            <a:solidFill>
              <a:srgbClr val="F7D8AB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019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Tenant A Namespace</a:t>
            </a:r>
          </a:p>
        </p:txBody>
      </p:sp>
      <p:sp>
        <p:nvSpPr>
          <p:cNvPr id="51" name="tenant-b-head">
            <a:extLst xmlns:a="http://schemas.openxmlformats.org/drawingml/2006/main">
              <a:ext uri="{FF2B5EF4-FFF2-40B4-BE49-F238E27FC236}">
                <a16:creationId xmlns:a16="http://schemas.microsoft.com/office/drawing/2014/main" id="{0CAD4F8C-FEC3-4EC3-A99F-445A333A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7400925"/>
            <a:ext cx="4914900" cy="3429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7D8AB"/>
          </a:solidFill>
          <a:ln xmlns:a="http://schemas.openxmlformats.org/drawingml/2006/main" w="19050">
            <a:solidFill>
              <a:srgbClr val="F7D8AB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019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Tenant B Namespace</a:t>
            </a:r>
          </a:p>
        </p:txBody>
      </p:sp>
      <p:sp>
        <p:nvSpPr>
          <p:cNvPr id="52" name="tenant-a-resources">
            <a:extLst xmlns:a="http://schemas.openxmlformats.org/drawingml/2006/main">
              <a:ext uri="{FF2B5EF4-FFF2-40B4-BE49-F238E27FC236}">
                <a16:creationId xmlns:a16="http://schemas.microsoft.com/office/drawing/2014/main" id="{5E410761-0F0E-456C-A075-DA49151C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7915275"/>
            <a:ext cx="2619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ServiceAccount + RoleBinding</a:t>
            </a:r>
          </a:p>
          <a:p xmlns:a="http://schemas.openxmlformats.org/drawingml/2006/main">
            <a:pPr algn="l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ResourceQuota + LimitRange</a:t>
            </a:r>
          </a:p>
          <a:p xmlns:a="http://schemas.openxmlformats.org/drawingml/2006/main">
            <a:pPr algn="l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Deployment / Pod</a:t>
            </a:r>
          </a:p>
        </p:txBody>
      </p:sp>
      <p:sp>
        <p:nvSpPr>
          <p:cNvPr id="53" name="tenant-b-resources">
            <a:extLst xmlns:a="http://schemas.openxmlformats.org/drawingml/2006/main">
              <a:ext uri="{FF2B5EF4-FFF2-40B4-BE49-F238E27FC236}">
                <a16:creationId xmlns:a16="http://schemas.microsoft.com/office/drawing/2014/main" id="{21FFB300-6C34-4B18-8837-D598DFB7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7915275"/>
            <a:ext cx="26193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ServiceAccount + RoleBinding</a:t>
            </a:r>
          </a:p>
          <a:p xmlns:a="http://schemas.openxmlformats.org/drawingml/2006/main">
            <a:pPr algn="l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ResourceQuota + LimitRange</a:t>
            </a:r>
          </a:p>
          <a:p xmlns:a="http://schemas.openxmlformats.org/drawingml/2006/main">
            <a:pPr algn="l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Deployment / Pod</a:t>
            </a:r>
          </a:p>
        </p:txBody>
      </p:sp>
      <p:sp>
        <p:nvSpPr>
          <p:cNvPr id="54" name="service-a">
            <a:extLst xmlns:a="http://schemas.openxmlformats.org/drawingml/2006/main">
              <a:ext uri="{FF2B5EF4-FFF2-40B4-BE49-F238E27FC236}">
                <a16:creationId xmlns:a16="http://schemas.microsoft.com/office/drawing/2014/main" id="{622306E0-650F-4F30-80BB-142FE616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7924800"/>
            <a:ext cx="1866900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3AE6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937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推理服务 A</a:t>
            </a:r>
          </a:p>
          <a:p xmlns:a="http://schemas.openxmlformats.org/drawingml/2006/main">
            <a:pPr algn="ctr">
              <a:def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CPU / GPU · Service</a:t>
            </a:r>
          </a:p>
        </p:txBody>
      </p:sp>
      <p:sp>
        <p:nvSpPr>
          <p:cNvPr id="55" name="service-b">
            <a:extLst xmlns:a="http://schemas.openxmlformats.org/drawingml/2006/main">
              <a:ext uri="{FF2B5EF4-FFF2-40B4-BE49-F238E27FC236}">
                <a16:creationId xmlns:a16="http://schemas.microsoft.com/office/drawing/2014/main" id="{7FBC5B02-718F-4AA2-A95F-8506E8D7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7924800"/>
            <a:ext cx="1866900" cy="790575"/>
          </a:xfrm>
          <a:prstGeom xmlns:a="http://schemas.openxmlformats.org/drawingml/2006/main" prst="roundRect">
            <a:avLst>
              <a:gd name="adj" fmla="val 144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3AE6D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937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推理服务 B</a:t>
            </a:r>
          </a:p>
          <a:p xmlns:a="http://schemas.openxmlformats.org/drawingml/2006/main">
            <a:pPr algn="ctr">
              <a:def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CPU / GPU · Service</a:t>
            </a:r>
          </a:p>
        </p:txBody>
      </p:sp>
      <p:sp>
        <p:nvSpPr>
          <p:cNvPr id="56" name="observability">
            <a:extLst xmlns:a="http://schemas.openxmlformats.org/drawingml/2006/main">
              <a:ext uri="{FF2B5EF4-FFF2-40B4-BE49-F238E27FC236}">
                <a16:creationId xmlns:a16="http://schemas.microsoft.com/office/drawing/2014/main" id="{C9A438AA-1468-498C-ABF9-22D101EB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54075" y="6667500"/>
            <a:ext cx="3771900" cy="2705100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487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7" name="observability-title">
            <a:extLst xmlns:a="http://schemas.openxmlformats.org/drawingml/2006/main">
              <a:ext uri="{FF2B5EF4-FFF2-40B4-BE49-F238E27FC236}">
                <a16:creationId xmlns:a16="http://schemas.microsoft.com/office/drawing/2014/main" id="{FBFAFB6A-C8CC-435D-9E17-FA667B0B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68008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可观测与告警中心</a:t>
            </a:r>
          </a:p>
        </p:txBody>
      </p:sp>
      <p:sp>
        <p:nvSpPr>
          <p:cNvPr id="58" name="prometheus">
            <a:extLst xmlns:a="http://schemas.openxmlformats.org/drawingml/2006/main">
              <a:ext uri="{FF2B5EF4-FFF2-40B4-BE49-F238E27FC236}">
                <a16:creationId xmlns:a16="http://schemas.microsoft.com/office/drawing/2014/main" id="{08BE178F-1E33-4270-8856-4FF43CC1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7286625"/>
            <a:ext cx="31242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F1E3"/>
          </a:solidFill>
          <a:ln xmlns:a="http://schemas.openxmlformats.org/drawingml/2006/main" w="19050">
            <a:solidFill>
              <a:srgbClr val="FFF1E3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Prometheus</a:t>
            </a:r>
          </a:p>
          <a:p xmlns:a="http://schemas.openxmlformats.org/drawingml/2006/main">
            <a:pPr algn="ctr">
              <a:def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集群 / 服务 / 推理指标采集</a:t>
            </a:r>
          </a:p>
        </p:txBody>
      </p:sp>
      <p:sp>
        <p:nvSpPr>
          <p:cNvPr id="59" name="grafana">
            <a:extLst xmlns:a="http://schemas.openxmlformats.org/drawingml/2006/main">
              <a:ext uri="{FF2B5EF4-FFF2-40B4-BE49-F238E27FC236}">
                <a16:creationId xmlns:a16="http://schemas.microsoft.com/office/drawing/2014/main" id="{2D7C7ADD-9D7F-41B9-8611-0B9376FC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77925" y="8058150"/>
            <a:ext cx="1504950" cy="8667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E3"/>
          </a:solidFill>
          <a:ln xmlns:a="http://schemas.openxmlformats.org/drawingml/2006/main" w="19050">
            <a:solidFill>
              <a:srgbClr val="FFF1E3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Grafana</a:t>
            </a:r>
          </a:p>
          <a:p xmlns:a="http://schemas.openxmlformats.org/drawingml/2006/main">
            <a:pPr algn="ctr">
              <a:defRPr sz="15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多租户看板</a:t>
            </a:r>
          </a:p>
        </p:txBody>
      </p:sp>
      <p:sp>
        <p:nvSpPr>
          <p:cNvPr id="60" name="alert-rules">
            <a:extLst xmlns:a="http://schemas.openxmlformats.org/drawingml/2006/main">
              <a:ext uri="{FF2B5EF4-FFF2-40B4-BE49-F238E27FC236}">
                <a16:creationId xmlns:a16="http://schemas.microsoft.com/office/drawing/2014/main" id="{9B881A25-3349-42F9-B02B-37E46E81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7175" y="8058150"/>
            <a:ext cx="1504950" cy="8667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E3"/>
          </a:solidFill>
          <a:ln xmlns:a="http://schemas.openxmlformats.org/drawingml/2006/main" w="19050">
            <a:solidFill>
              <a:srgbClr val="FFF1E3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Alert Rules</a:t>
            </a:r>
          </a:p>
          <a:p xmlns:a="http://schemas.openxmlformats.org/drawingml/2006/main">
            <a:pPr algn="ctr">
              <a:def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资源 / 延迟</a:t>
            </a:r>
          </a:p>
          <a:p xmlns:a="http://schemas.openxmlformats.org/drawingml/2006/main">
            <a:pPr algn="ctr">
              <a:def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324A"/>
                </a:solidFill>
                <a:latin typeface="Microsoft YaHei"/>
                <a:ea typeface="Microsoft YaHei"/>
                <a:cs typeface="Microsoft YaHei"/>
              </a:rPr>
              <a:t>流量 / 异常</a:t>
            </a:r>
          </a:p>
        </p:txBody>
      </p:sp>
      <p:cxnSp>
        <p:nvCxnSpPr>
          <p:cNvPr id="140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200525" y="1866900"/>
            <a:ext cx="11620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479C9"/>
            </a:solidFill>
            <a:prstDash val="solid"/>
            <a:tailEnd type="triangle" w="sm" len="sm"/>
          </a:ln>
        </p:spPr>
      </p:cxnSp>
      <p:cxnSp>
        <p:nvCxnSpPr>
          <p:cNvPr id="141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258175" y="1866900"/>
            <a:ext cx="5048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1479C9"/>
            </a:solidFill>
            <a:prstDash val="solid"/>
            <a:tailEnd type="triangle" w="sm" len="sm"/>
          </a:ln>
        </p:spPr>
      </p:cxnSp>
      <p:cxnSp>
        <p:nvCxnSpPr>
          <p:cNvPr id="142" name=""/>
          <p:cNvCxnSpPr>
            <a:stCxn xmlns:a="http://schemas.openxmlformats.org/drawingml/2006/main" id="11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 flipH="1">
            <a:off x="3609975" y="2352675"/>
            <a:ext cx="3200400" cy="914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21364A"/>
            </a:solidFill>
            <a:prstDash val="solid"/>
            <a:tailEnd type="triangle" w="sm" len="sm"/>
          </a:ln>
        </p:spPr>
      </p:cxnSp>
      <p:cxnSp>
        <p:nvCxnSpPr>
          <p:cNvPr id="143" name=""/>
          <p:cNvCxnSpPr>
            <a:stCxn xmlns:a="http://schemas.openxmlformats.org/drawingml/2006/main" id="31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4752975" y="5786438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364A"/>
            </a:solidFill>
            <a:prstDash val="solid"/>
            <a:tailEnd type="triangle" w="sm" len="sm"/>
          </a:ln>
        </p:spPr>
      </p:cxnSp>
      <p:cxnSp>
        <p:nvCxnSpPr>
          <p:cNvPr id="144" name=""/>
          <p:cNvCxnSpPr>
            <a:stCxn xmlns:a="http://schemas.openxmlformats.org/drawingml/2006/main" id="34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7962900" y="5786438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364A"/>
            </a:solidFill>
            <a:prstDash val="solid"/>
            <a:tailEnd type="triangle" w="sm" len="sm"/>
          </a:ln>
        </p:spPr>
      </p:cxnSp>
      <p:cxnSp>
        <p:nvCxnSpPr>
          <p:cNvPr id="145" name=""/>
          <p:cNvCxnSpPr>
            <a:stCxn xmlns:a="http://schemas.openxmlformats.org/drawingml/2006/main" id="37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10858500" y="5786438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364A"/>
            </a:solidFill>
            <a:prstDash val="solid"/>
            <a:tailEnd type="triangle" w="sm" len="sm"/>
          </a:ln>
        </p:spPr>
      </p:cxnSp>
      <p:cxnSp>
        <p:nvCxnSpPr>
          <p:cNvPr id="146" name=""/>
          <p:cNvCxnSpPr>
            <a:stCxn xmlns:a="http://schemas.openxmlformats.org/drawingml/2006/main" id="40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13792200" y="5786438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364A"/>
            </a:solidFill>
            <a:prstDash val="solid"/>
            <a:tailEnd type="triangle" w="sm" len="sm"/>
          </a:ln>
        </p:spPr>
      </p:cxnSp>
      <p:cxnSp>
        <p:nvCxnSpPr>
          <p:cNvPr id="147" name=""/>
          <p:cNvCxnSpPr>
            <a:stCxn xmlns:a="http://schemas.openxmlformats.org/drawingml/2006/main" id="43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 flipH="1">
            <a:off x="7610475" y="6448425"/>
            <a:ext cx="8262938" cy="219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21364A"/>
            </a:solidFill>
            <a:prstDash val="solid"/>
            <a:tailEnd type="triangle" w="sm" len="sm"/>
          </a:ln>
        </p:spPr>
      </p:cxnSp>
      <p:cxnSp>
        <p:nvCxnSpPr>
          <p:cNvPr id="148" name=""/>
          <p:cNvCxnSpPr>
            <a:stCxn xmlns:a="http://schemas.openxmlformats.org/drawingml/2006/main" id="12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 flipH="1">
            <a:off x="11630025" y="2352675"/>
            <a:ext cx="3686175" cy="55721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38100">
            <a:solidFill>
              <a:srgbClr val="1479C9"/>
            </a:solidFill>
            <a:prstDash val="solid"/>
            <a:tailEnd type="triangle" w="sm" len="sm"/>
          </a:ln>
        </p:spPr>
      </p:cxnSp>
      <p:cxnSp>
        <p:nvCxnSpPr>
          <p:cNvPr id="149" name=""/>
          <p:cNvCxnSpPr>
            <a:stCxn xmlns:a="http://schemas.openxmlformats.org/drawingml/2006/main" id="46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13268325" y="80200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4872D"/>
            </a:solidFill>
            <a:prstDash val="dash"/>
            <a:tailEnd type="triangle" w="sm" len="sm"/>
          </a:ln>
        </p:spPr>
      </p:cxnSp>
      <p:cxnSp>
        <p:nvCxnSpPr>
          <p:cNvPr id="150" name=""/>
          <p:cNvCxnSpPr>
            <a:stCxn xmlns:a="http://schemas.openxmlformats.org/drawingml/2006/main" id="60" idx="0"/>
            <a:endCxn xmlns:a="http://schemas.openxmlformats.org/drawingml/2006/main" id="58" idx="2"/>
          </p:cNvCxnSpPr>
          <p:nvPr/>
        </p:nvCxnSpPr>
        <p:spPr>
          <a:xfrm xmlns:a="http://schemas.openxmlformats.org/drawingml/2006/main" flipH="1" flipV="1">
            <a:off x="15440025" y="7915275"/>
            <a:ext cx="809625" cy="142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4872D"/>
            </a:solidFill>
            <a:prstDash val="dash"/>
            <a:tailEnd type="triangle" w="sm" len="sm"/>
          </a:ln>
        </p:spPr>
      </p:cxnSp>
      <p:sp>
        <p:nvSpPr>
          <p:cNvPr id="72" name="flow-1">
            <a:extLst xmlns:a="http://schemas.openxmlformats.org/drawingml/2006/main">
              <a:ext uri="{FF2B5EF4-FFF2-40B4-BE49-F238E27FC236}">
                <a16:creationId xmlns:a16="http://schemas.microsoft.com/office/drawing/2014/main" id="{8E54567A-E67C-4849-9192-63069081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5267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① 登录 / 创建服务</a:t>
            </a:r>
          </a:p>
        </p:txBody>
      </p:sp>
      <p:sp>
        <p:nvSpPr>
          <p:cNvPr id="73" name="flow-2">
            <a:extLst xmlns:a="http://schemas.openxmlformats.org/drawingml/2006/main">
              <a:ext uri="{FF2B5EF4-FFF2-40B4-BE49-F238E27FC236}">
                <a16:creationId xmlns:a16="http://schemas.microsoft.com/office/drawing/2014/main" id="{B93A99D7-DABC-4677-864A-9222E7B0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76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② 构建</a:t>
            </a:r>
          </a:p>
        </p:txBody>
      </p:sp>
      <p:sp>
        <p:nvSpPr>
          <p:cNvPr id="74" name="flow-3">
            <a:extLst xmlns:a="http://schemas.openxmlformats.org/drawingml/2006/main">
              <a:ext uri="{FF2B5EF4-FFF2-40B4-BE49-F238E27FC236}">
                <a16:creationId xmlns:a16="http://schemas.microsoft.com/office/drawing/2014/main" id="{DC742CB0-74E4-4A27-A89E-B8A9F568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76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③ 推送镜像</a:t>
            </a:r>
          </a:p>
        </p:txBody>
      </p:sp>
      <p:sp>
        <p:nvSpPr>
          <p:cNvPr id="75" name="flow-4">
            <a:extLst xmlns:a="http://schemas.openxmlformats.org/drawingml/2006/main">
              <a:ext uri="{FF2B5EF4-FFF2-40B4-BE49-F238E27FC236}">
                <a16:creationId xmlns:a16="http://schemas.microsoft.com/office/drawing/2014/main" id="{5F29903F-DC2D-42D3-80CC-FB9A3FCE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876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④ 写入声明</a:t>
            </a:r>
          </a:p>
        </p:txBody>
      </p:sp>
      <p:sp>
        <p:nvSpPr>
          <p:cNvPr id="76" name="flow-5">
            <a:extLst xmlns:a="http://schemas.openxmlformats.org/drawingml/2006/main">
              <a:ext uri="{FF2B5EF4-FFF2-40B4-BE49-F238E27FC236}">
                <a16:creationId xmlns:a16="http://schemas.microsoft.com/office/drawing/2014/main" id="{71D7CE8B-78B1-4923-9544-21434111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59050" y="4876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⑤ 持续同步</a:t>
            </a:r>
          </a:p>
        </p:txBody>
      </p:sp>
      <p:sp>
        <p:nvSpPr>
          <p:cNvPr id="77" name="flow-6">
            <a:extLst xmlns:a="http://schemas.openxmlformats.org/drawingml/2006/main">
              <a:ext uri="{FF2B5EF4-FFF2-40B4-BE49-F238E27FC236}">
                <a16:creationId xmlns:a16="http://schemas.microsoft.com/office/drawing/2014/main" id="{9DEC4E2F-4609-43C0-AFB2-0638AF78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335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⑥ Ingress Controller → Service → Ready Pod</a:t>
            </a:r>
          </a:p>
        </p:txBody>
      </p:sp>
      <p:sp>
        <p:nvSpPr>
          <p:cNvPr id="78" name="flow-7">
            <a:extLst xmlns:a="http://schemas.openxmlformats.org/drawingml/2006/main">
              <a:ext uri="{FF2B5EF4-FFF2-40B4-BE49-F238E27FC236}">
                <a16:creationId xmlns:a16="http://schemas.microsoft.com/office/drawing/2014/main" id="{712DF7C4-E6B8-48E2-AB16-39CABC91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8305800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2596B"/>
                </a:solidFill>
                <a:latin typeface="Microsoft YaHei"/>
                <a:ea typeface="Microsoft YaHei"/>
                <a:cs typeface="Microsoft YaHei"/>
              </a:rPr>
              <a:t>⑦ Metrics</a:t>
            </a:r>
          </a:p>
        </p:txBody>
      </p:sp>
      <p:sp>
        <p:nvSpPr>
          <p:cNvPr id="79" name="security-footer">
            <a:extLst xmlns:a="http://schemas.openxmlformats.org/drawingml/2006/main">
              <a:ext uri="{FF2B5EF4-FFF2-40B4-BE49-F238E27FC236}">
                <a16:creationId xmlns:a16="http://schemas.microsoft.com/office/drawing/2014/main" id="{25CC9CAE-E0F3-44B7-8B9B-15AEFA40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9582150"/>
            <a:ext cx="153733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24A"/>
          </a:solidFill>
          <a:ln xmlns:a="http://schemas.openxmlformats.org/drawingml/2006/main" w="19050">
            <a:solidFill>
              <a:srgbClr val="17324A"/>
            </a:solidFill>
            <a:prstDash val="solid"/>
          </a:ln>
        </p:spPr>
        <p:txBody>
          <a:bodyPr xmlns:a="http://schemas.openxmlformats.org/drawingml/2006/main" wrap="square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双层安全体系：平台层 JWT + Redis 认证　｜　集群层 Kubernetes RBAC 授权　｜　Namespace 级资源与权限隔离</a:t>
            </a:r>
          </a:p>
        </p:txBody>
      </p:sp>
    </p:spTree>
    <p:extLst>
      <p:ext uri="{BB962C8B-B14F-4D97-AF65-F5344CB8AC3E}">
        <p14:creationId xmlns:p14="http://schemas.microsoft.com/office/powerpoint/2010/main" val="8668552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2026-08-25T03:23:10.4420000Z</dcterms:created>
  <dcterms:modified xsi:type="dcterms:W3CDTF">2026-08-25T03:23:10.4420000Z</dcterms:modified>
</coreProperties>
</file>