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1d4c65df44bea" /><Relationship Type="http://schemas.openxmlformats.org/officeDocument/2006/relationships/extended-properties" Target="/docProps/app.xml" Id="Rd441080522034885" /><Relationship Type="http://schemas.openxmlformats.org/officeDocument/2006/relationships/officeDocument" Target="/ppt/presentation.xml" Id="Rbb6592cca2d344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d04e3b0c3f4f42"/>
  </p:sldMasterIdLst>
  <p:notesMasterIdLst>
    <p:notesMasterId xmlns:r="http://schemas.openxmlformats.org/officeDocument/2006/relationships" r:id="Re29873934561476e"/>
  </p:notesMasterIdLst>
  <p:sldIdLst>
    <p:sldId xmlns:r="http://schemas.openxmlformats.org/officeDocument/2006/relationships" id="256" r:id="R70d219bf7e0e4bd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fe7977c2154b7e" /><Relationship Type="http://schemas.openxmlformats.org/officeDocument/2006/relationships/slideMaster" Target="/ppt/slideMasters/slideMaster1.xml" Id="Rc7d04e3b0c3f4f42" /><Relationship Type="http://schemas.openxmlformats.org/officeDocument/2006/relationships/notesMaster" Target="/ppt/notesMasters/notesMaster1.xml" Id="Re29873934561476e" /><Relationship Type="http://schemas.openxmlformats.org/officeDocument/2006/relationships/presProps" Target="/ppt/presProps.xml" Id="Rc95c596849bb49bf" /><Relationship Type="http://schemas.openxmlformats.org/officeDocument/2006/relationships/tableStyles" Target="/ppt/tableStyles.xml" Id="R6174e519ac8544eb" /><Relationship Type="http://schemas.openxmlformats.org/officeDocument/2006/relationships/slide" Target="/ppt/slides/slide1.xml" Id="R70d219bf7e0e4b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60f24e222d48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858b9b4874010" /><Relationship Type="http://schemas.openxmlformats.org/officeDocument/2006/relationships/notesMaster" Target="/ppt/notesMasters/notesMaster1.xml" Id="R13f6a7588bf54d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previously created architecture visual;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72294555e4a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9ad17d73ca4965" /><Relationship Type="http://schemas.openxmlformats.org/officeDocument/2006/relationships/slideLayout" Target="/ppt/slideLayouts/slideLayout1.xml" Id="R06b62ef15d244d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b62ef15d244d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8901bd07d493d" /><Relationship Type="http://schemas.openxmlformats.org/officeDocument/2006/relationships/notesSlide" Target="/ppt/notesSlides/notesSlide1.xml" Id="Rfbee9721e8ee4b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header">
            <a:extLst xmlns:a="http://schemas.openxmlformats.org/drawingml/2006/main">
              <a:ext uri="{FF2B5EF4-FFF2-40B4-BE49-F238E27FC236}">
                <a16:creationId xmlns:a16="http://schemas.microsoft.com/office/drawing/2014/main" id="{017B33FB-E589-4F5B-8ED8-4603425A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93"/>
          </a:solidFill>
          <a:ln xmlns:a="http://schemas.openxmlformats.org/drawingml/2006/main" w="0">
            <a:solidFill>
              <a:srgbClr val="0B4F93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DE7B93-A8EF-4D89-B173-07A2B010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Kubernetes 的智能算力服务化平台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ABB6AF7-16D8-459A-B545-4878DA54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rPr>
              <a:t>镜像标准化 · GitOps 自动交付 · 多租户资源隔离 · 统一流量治理 · 全栈可观测</a:t>
            </a:r>
          </a:p>
        </p:txBody>
      </p:sp>
      <p:sp>
        <p:nvSpPr>
          <p:cNvPr id="4" name="cyan-divider">
            <a:extLst xmlns:a="http://schemas.openxmlformats.org/drawingml/2006/main">
              <a:ext uri="{FF2B5EF4-FFF2-40B4-BE49-F238E27FC236}">
                <a16:creationId xmlns:a16="http://schemas.microsoft.com/office/drawing/2014/main" id="{D045BBAE-C5CC-413F-BF02-A51275B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1828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7D7"/>
          </a:solidFill>
          <a:ln xmlns:a="http://schemas.openxmlformats.org/drawingml/2006/main" w="0">
            <a:solidFill>
              <a:srgbClr val="2CB7D7"/>
            </a:solidFill>
            <a:prstDash val="solid"/>
          </a:ln>
        </p:spPr>
      </p:sp>
      <p:sp>
        <p:nvSpPr>
          <p:cNvPr id="5" name="target-state">
            <a:extLst xmlns:a="http://schemas.openxmlformats.org/drawingml/2006/main">
              <a:ext uri="{FF2B5EF4-FFF2-40B4-BE49-F238E27FC236}">
                <a16:creationId xmlns:a16="http://schemas.microsoft.com/office/drawing/2014/main" id="{5BDD74F8-014D-46A8-9406-1DFE7C11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85750"/>
            <a:ext cx="1333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397CB6"/>
          </a:solidFill>
          <a:ln xmlns:a="http://schemas.openxmlformats.org/drawingml/2006/main" w="19050">
            <a:solidFill>
              <a:srgbClr val="397CB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目标态架构</a:t>
            </a:r>
          </a:p>
        </p:txBody>
      </p:sp>
      <p:sp>
        <p:nvSpPr>
          <p:cNvPr id="6" name="layer-访问层">
            <a:extLst xmlns:a="http://schemas.openxmlformats.org/drawingml/2006/main">
              <a:ext uri="{FF2B5EF4-FFF2-40B4-BE49-F238E27FC236}">
                <a16:creationId xmlns:a16="http://schemas.microsoft.com/office/drawing/2014/main" id="{3F1E9AFE-4993-4677-BD0B-670979FD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12192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8EDF9"/>
          </a:solidFill>
          <a:ln xmlns:a="http://schemas.openxmlformats.org/drawingml/2006/main" w="19050">
            <a:solidFill>
              <a:srgbClr val="D8EDF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访问层</a:t>
            </a:r>
          </a:p>
        </p:txBody>
      </p:sp>
      <p:sp>
        <p:nvSpPr>
          <p:cNvPr id="7" name="layer-平台控制层">
            <a:extLst xmlns:a="http://schemas.openxmlformats.org/drawingml/2006/main">
              <a:ext uri="{FF2B5EF4-FFF2-40B4-BE49-F238E27FC236}">
                <a16:creationId xmlns:a16="http://schemas.microsoft.com/office/drawing/2014/main" id="{83F5C4AD-6D13-4835-874A-407A0129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71750"/>
            <a:ext cx="1219200" cy="233362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2F6"/>
          </a:solidFill>
          <a:ln xmlns:a="http://schemas.openxmlformats.org/drawingml/2006/main" w="19050">
            <a:solidFill>
              <a:srgbClr val="E8E2F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平台控制层</a:t>
            </a:r>
          </a:p>
        </p:txBody>
      </p:sp>
      <p:sp>
        <p:nvSpPr>
          <p:cNvPr id="8" name="layer-交付链路">
            <a:extLst xmlns:a="http://schemas.openxmlformats.org/drawingml/2006/main">
              <a:ext uri="{FF2B5EF4-FFF2-40B4-BE49-F238E27FC236}">
                <a16:creationId xmlns:a16="http://schemas.microsoft.com/office/drawing/2014/main" id="{795EF6F3-444E-4B8C-A46D-CEBFCC4F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24450"/>
            <a:ext cx="1219200" cy="132397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2EA"/>
          </a:solidFill>
          <a:ln xmlns:a="http://schemas.openxmlformats.org/drawingml/2006/main" w="19050">
            <a:solidFill>
              <a:srgbClr val="E2F2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交付链路</a:t>
            </a:r>
          </a:p>
        </p:txBody>
      </p:sp>
      <p:sp>
        <p:nvSpPr>
          <p:cNvPr id="9" name="layer-运行与观测层">
            <a:extLst xmlns:a="http://schemas.openxmlformats.org/drawingml/2006/main">
              <a:ext uri="{FF2B5EF4-FFF2-40B4-BE49-F238E27FC236}">
                <a16:creationId xmlns:a16="http://schemas.microsoft.com/office/drawing/2014/main" id="{929DAEBC-92E8-424F-8491-7B75725F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0"/>
            <a:ext cx="1219200" cy="27051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19050">
            <a:solidFill>
              <a:srgbClr val="FFF0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运行与观测层</a:t>
            </a:r>
          </a:p>
        </p:txBody>
      </p:sp>
      <p:sp>
        <p:nvSpPr>
          <p:cNvPr id="10" name="platform-user">
            <a:extLst xmlns:a="http://schemas.openxmlformats.org/drawingml/2006/main">
              <a:ext uri="{FF2B5EF4-FFF2-40B4-BE49-F238E27FC236}">
                <a16:creationId xmlns:a16="http://schemas.microsoft.com/office/drawing/2014/main" id="{A9A53F69-A37E-4F22-BF63-9C34653E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2857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A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平台用户 / 租户</a:t>
            </a:r>
          </a:p>
        </p:txBody>
      </p:sp>
      <p:sp>
        <p:nvSpPr>
          <p:cNvPr id="11" name="unified-entry">
            <a:extLst xmlns:a="http://schemas.openxmlformats.org/drawingml/2006/main">
              <a:ext uri="{FF2B5EF4-FFF2-40B4-BE49-F238E27FC236}">
                <a16:creationId xmlns:a16="http://schemas.microsoft.com/office/drawing/2014/main" id="{42684411-5673-4A33-87CD-2B158208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4000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A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统一访问入口</a:t>
            </a:r>
          </a:p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Ingress Controller · HTTPS / 域名 / 路径路由</a:t>
            </a:r>
          </a:p>
        </p:txBody>
      </p:sp>
      <p:sp>
        <p:nvSpPr>
          <p:cNvPr id="12" name="go-control-plane">
            <a:extLst xmlns:a="http://schemas.openxmlformats.org/drawingml/2006/main">
              <a:ext uri="{FF2B5EF4-FFF2-40B4-BE49-F238E27FC236}">
                <a16:creationId xmlns:a16="http://schemas.microsoft.com/office/drawing/2014/main" id="{BEE59856-BEFE-4585-BB07-49DD8A50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537335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D8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ntrol-plane-header">
            <a:extLst xmlns:a="http://schemas.openxmlformats.org/drawingml/2006/main">
              <a:ext uri="{FF2B5EF4-FFF2-40B4-BE49-F238E27FC236}">
                <a16:creationId xmlns:a16="http://schemas.microsoft.com/office/drawing/2014/main" id="{0BEBA0AA-5788-4D3D-907A-D43BA6A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90800"/>
            <a:ext cx="1533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F6"/>
          </a:solidFill>
          <a:ln xmlns:a="http://schemas.openxmlformats.org/drawingml/2006/main" w="0">
            <a:solidFill>
              <a:srgbClr val="E8E2F6"/>
            </a:solidFill>
            <a:prstDash val="solid"/>
          </a:ln>
        </p:spPr>
      </p:sp>
      <p:sp>
        <p:nvSpPr>
          <p:cNvPr id="14" name="control-plane-title">
            <a:extLst xmlns:a="http://schemas.openxmlformats.org/drawingml/2006/main">
              <a:ext uri="{FF2B5EF4-FFF2-40B4-BE49-F238E27FC236}">
                <a16:creationId xmlns:a16="http://schemas.microsoft.com/office/drawing/2014/main" id="{21DF3BC7-F2A4-46CB-A263-1CE4B3F0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28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Go 平台控制面（REST API + client-go）</a:t>
            </a:r>
          </a:p>
        </p:txBody>
      </p:sp>
      <p:sp>
        <p:nvSpPr>
          <p:cNvPr id="15" name="auth-tenant">
            <a:extLst xmlns:a="http://schemas.openxmlformats.org/drawingml/2006/main">
              <a:ext uri="{FF2B5EF4-FFF2-40B4-BE49-F238E27FC236}">
                <a16:creationId xmlns:a16="http://schemas.microsoft.com/office/drawing/2014/main" id="{FF2D6520-B143-4EB8-996E-55320205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67075"/>
            <a:ext cx="26670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16" name="auth-tenant-title">
            <a:extLst xmlns:a="http://schemas.openxmlformats.org/drawingml/2006/main">
              <a:ext uri="{FF2B5EF4-FFF2-40B4-BE49-F238E27FC236}">
                <a16:creationId xmlns:a16="http://schemas.microsoft.com/office/drawing/2014/main" id="{D1056084-8931-4FEE-871D-C80A594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813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认证与租户管理</a:t>
            </a:r>
          </a:p>
        </p:txBody>
      </p:sp>
      <p:sp>
        <p:nvSpPr>
          <p:cNvPr id="17" name="auth-tenant-body">
            <a:extLst xmlns:a="http://schemas.openxmlformats.org/drawingml/2006/main">
              <a:ext uri="{FF2B5EF4-FFF2-40B4-BE49-F238E27FC236}">
                <a16:creationId xmlns:a16="http://schemas.microsoft.com/office/drawing/2014/main" id="{F5B5A667-6DC4-4B93-B95F-C9832DB9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147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JWT + Redis 会话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用户 / 租户 / 项目空间</a:t>
            </a:r>
          </a:p>
        </p:txBody>
      </p:sp>
      <p:sp>
        <p:nvSpPr>
          <p:cNvPr id="18" name="image-build">
            <a:extLst xmlns:a="http://schemas.openxmlformats.org/drawingml/2006/main">
              <a:ext uri="{FF2B5EF4-FFF2-40B4-BE49-F238E27FC236}">
                <a16:creationId xmlns:a16="http://schemas.microsoft.com/office/drawing/2014/main" id="{3514015A-4CA2-46EC-9357-9ABCC32D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67075"/>
            <a:ext cx="26670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19" name="image-build-title">
            <a:extLst xmlns:a="http://schemas.openxmlformats.org/drawingml/2006/main">
              <a:ext uri="{FF2B5EF4-FFF2-40B4-BE49-F238E27FC236}">
                <a16:creationId xmlns:a16="http://schemas.microsoft.com/office/drawing/2014/main" id="{6F501A55-60A1-4C6B-8E0E-CD144840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813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镜像构建服务</a:t>
            </a:r>
          </a:p>
        </p:txBody>
      </p:sp>
      <p:sp>
        <p:nvSpPr>
          <p:cNvPr id="20" name="image-build-body">
            <a:extLst xmlns:a="http://schemas.openxmlformats.org/drawingml/2006/main">
              <a:ext uri="{FF2B5EF4-FFF2-40B4-BE49-F238E27FC236}">
                <a16:creationId xmlns:a16="http://schemas.microsoft.com/office/drawing/2014/main" id="{4A3622A9-830A-4A21-A5AF-BD3C8D5B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7147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Dockerfile 模板化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构建日志 · 制品交付</a:t>
            </a:r>
          </a:p>
        </p:txBody>
      </p:sp>
      <p:sp>
        <p:nvSpPr>
          <p:cNvPr id="21" name="k8s-orchestrator">
            <a:extLst xmlns:a="http://schemas.openxmlformats.org/drawingml/2006/main">
              <a:ext uri="{FF2B5EF4-FFF2-40B4-BE49-F238E27FC236}">
                <a16:creationId xmlns:a16="http://schemas.microsoft.com/office/drawing/2014/main" id="{D6F03DA6-72D5-4A26-A92E-4B83B594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67075"/>
            <a:ext cx="32004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22" name="k8s-orchestrator-title">
            <a:extLst xmlns:a="http://schemas.openxmlformats.org/drawingml/2006/main">
              <a:ext uri="{FF2B5EF4-FFF2-40B4-BE49-F238E27FC236}">
                <a16:creationId xmlns:a16="http://schemas.microsoft.com/office/drawing/2014/main" id="{B99EF3CA-D56A-4730-8D73-00251968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813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Kubernetes 编排器</a:t>
            </a:r>
          </a:p>
        </p:txBody>
      </p:sp>
      <p:sp>
        <p:nvSpPr>
          <p:cNvPr id="23" name="k8s-orchestrator-body">
            <a:extLst xmlns:a="http://schemas.openxmlformats.org/drawingml/2006/main">
              <a:ext uri="{FF2B5EF4-FFF2-40B4-BE49-F238E27FC236}">
                <a16:creationId xmlns:a16="http://schemas.microsoft.com/office/drawing/2014/main" id="{75D6E285-6A0B-4953-951F-C7590F2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71475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Namespace · Quota · LimitRange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· RBAC · CPU / 内存 / GPU</a:t>
            </a:r>
          </a:p>
        </p:txBody>
      </p:sp>
      <p:sp>
        <p:nvSpPr>
          <p:cNvPr id="24" name="gitops-manager">
            <a:extLst xmlns:a="http://schemas.openxmlformats.org/drawingml/2006/main">
              <a:ext uri="{FF2B5EF4-FFF2-40B4-BE49-F238E27FC236}">
                <a16:creationId xmlns:a16="http://schemas.microsoft.com/office/drawing/2014/main" id="{B1935CE1-D084-4C36-8505-FD4DE3CE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267075"/>
            <a:ext cx="25527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25" name="gitops-manager-title">
            <a:extLst xmlns:a="http://schemas.openxmlformats.org/drawingml/2006/main">
              <a:ext uri="{FF2B5EF4-FFF2-40B4-BE49-F238E27FC236}">
                <a16:creationId xmlns:a16="http://schemas.microsoft.com/office/drawing/2014/main" id="{0E65038D-107F-4D0B-885E-4A846A75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33813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GitOps 发布管理</a:t>
            </a:r>
          </a:p>
        </p:txBody>
      </p:sp>
      <p:sp>
        <p:nvSpPr>
          <p:cNvPr id="26" name="gitops-manager-body">
            <a:extLst xmlns:a="http://schemas.openxmlformats.org/drawingml/2006/main">
              <a:ext uri="{FF2B5EF4-FFF2-40B4-BE49-F238E27FC236}">
                <a16:creationId xmlns:a16="http://schemas.microsoft.com/office/drawing/2014/main" id="{958919D7-8B98-4C23-B989-B3067457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3714750"/>
            <a:ext cx="2362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配置生成 · 版本追踪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发布 / 回滚 / 状态同步</a:t>
            </a:r>
          </a:p>
        </p:txBody>
      </p:sp>
      <p:sp>
        <p:nvSpPr>
          <p:cNvPr id="27" name="service-governance">
            <a:extLst xmlns:a="http://schemas.openxmlformats.org/drawingml/2006/main">
              <a:ext uri="{FF2B5EF4-FFF2-40B4-BE49-F238E27FC236}">
                <a16:creationId xmlns:a16="http://schemas.microsoft.com/office/drawing/2014/main" id="{821AF8AF-7C6B-43EA-9C08-693CC331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267075"/>
            <a:ext cx="241935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28" name="service-governance-title">
            <a:extLst xmlns:a="http://schemas.openxmlformats.org/drawingml/2006/main">
              <a:ext uri="{FF2B5EF4-FFF2-40B4-BE49-F238E27FC236}">
                <a16:creationId xmlns:a16="http://schemas.microsoft.com/office/drawing/2014/main" id="{6E220909-E6A8-4724-8BD9-FC0CEB16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381375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服务发布与治理</a:t>
            </a:r>
          </a:p>
        </p:txBody>
      </p:sp>
      <p:sp>
        <p:nvSpPr>
          <p:cNvPr id="29" name="service-governance-body">
            <a:extLst xmlns:a="http://schemas.openxmlformats.org/drawingml/2006/main">
              <a:ext uri="{FF2B5EF4-FFF2-40B4-BE49-F238E27FC236}">
                <a16:creationId xmlns:a16="http://schemas.microsoft.com/office/drawing/2014/main" id="{1B68C442-C48C-474E-A122-36E77755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714750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 / Ingress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域名 / 路径路由策略</a:t>
            </a:r>
          </a:p>
        </p:txBody>
      </p:sp>
      <p:sp>
        <p:nvSpPr>
          <p:cNvPr id="30" name="source-assets">
            <a:extLst xmlns:a="http://schemas.openxmlformats.org/drawingml/2006/main">
              <a:ext uri="{FF2B5EF4-FFF2-40B4-BE49-F238E27FC236}">
                <a16:creationId xmlns:a16="http://schemas.microsoft.com/office/drawing/2014/main" id="{54796658-9755-4D6D-9B07-3EE39904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28003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1" name="source-assets-title">
            <a:extLst xmlns:a="http://schemas.openxmlformats.org/drawingml/2006/main">
              <a:ext uri="{FF2B5EF4-FFF2-40B4-BE49-F238E27FC236}">
                <a16:creationId xmlns:a16="http://schemas.microsoft.com/office/drawing/2014/main" id="{0FB0DD50-EF77-451A-9F83-3EC33B3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3875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源码与模型资产</a:t>
            </a:r>
          </a:p>
        </p:txBody>
      </p:sp>
      <p:sp>
        <p:nvSpPr>
          <p:cNvPr id="32" name="source-assets-body">
            <a:extLst xmlns:a="http://schemas.openxmlformats.org/drawingml/2006/main">
              <a:ext uri="{FF2B5EF4-FFF2-40B4-BE49-F238E27FC236}">
                <a16:creationId xmlns:a16="http://schemas.microsoft.com/office/drawing/2014/main" id="{A826F317-E11D-4F4C-B31A-AEDEAC1D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2609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Git 仓库 · 模型文件 · Dockerfile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提交触发构建 / 发布</a:t>
            </a:r>
          </a:p>
        </p:txBody>
      </p:sp>
      <p:sp>
        <p:nvSpPr>
          <p:cNvPr id="33" name="docker-pipeline">
            <a:extLst xmlns:a="http://schemas.openxmlformats.org/drawingml/2006/main">
              <a:ext uri="{FF2B5EF4-FFF2-40B4-BE49-F238E27FC236}">
                <a16:creationId xmlns:a16="http://schemas.microsoft.com/office/drawing/2014/main" id="{3D2BBEA4-C453-40D5-B1BA-23F2DC60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24450"/>
            <a:ext cx="2581275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4" name="docker-pipeline-title">
            <a:extLst xmlns:a="http://schemas.openxmlformats.org/drawingml/2006/main">
              <a:ext uri="{FF2B5EF4-FFF2-40B4-BE49-F238E27FC236}">
                <a16:creationId xmlns:a16="http://schemas.microsoft.com/office/drawing/2014/main" id="{2EFDD83D-C5B4-4017-85A1-E7D8A022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38750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Docker 构建流水线</a:t>
            </a:r>
          </a:p>
        </p:txBody>
      </p:sp>
      <p:sp>
        <p:nvSpPr>
          <p:cNvPr id="35" name="docker-pipeline-body">
            <a:extLst xmlns:a="http://schemas.openxmlformats.org/drawingml/2006/main">
              <a:ext uri="{FF2B5EF4-FFF2-40B4-BE49-F238E27FC236}">
                <a16:creationId xmlns:a16="http://schemas.microsoft.com/office/drawing/2014/main" id="{DF35C23E-8BB8-45A9-997B-027A7CA7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23907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标准基础镜像 · 依赖固化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镜像构建 + 镜像扫描</a:t>
            </a:r>
          </a:p>
        </p:txBody>
      </p:sp>
      <p:sp>
        <p:nvSpPr>
          <p:cNvPr id="36" name="harbor">
            <a:extLst xmlns:a="http://schemas.openxmlformats.org/drawingml/2006/main">
              <a:ext uri="{FF2B5EF4-FFF2-40B4-BE49-F238E27FC236}">
                <a16:creationId xmlns:a16="http://schemas.microsoft.com/office/drawing/2014/main" id="{9792773D-B7B2-4B5A-B43B-52CB4E3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24450"/>
            <a:ext cx="22669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7" name="harbor-title">
            <a:extLst xmlns:a="http://schemas.openxmlformats.org/drawingml/2006/main">
              <a:ext uri="{FF2B5EF4-FFF2-40B4-BE49-F238E27FC236}">
                <a16:creationId xmlns:a16="http://schemas.microsoft.com/office/drawing/2014/main" id="{D28D9ED2-AEBA-4B78-AEDE-74225B3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38750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Harbor</a:t>
            </a:r>
          </a:p>
        </p:txBody>
      </p:sp>
      <p:sp>
        <p:nvSpPr>
          <p:cNvPr id="38" name="harbor-body">
            <a:extLst xmlns:a="http://schemas.openxmlformats.org/drawingml/2006/main">
              <a:ext uri="{FF2B5EF4-FFF2-40B4-BE49-F238E27FC236}">
                <a16:creationId xmlns:a16="http://schemas.microsoft.com/office/drawing/2014/main" id="{30C341A9-013C-4B2F-BF64-7E9CA016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72125"/>
            <a:ext cx="207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私有镜像仓库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Tag / 版本 / 制品交付</a:t>
            </a:r>
          </a:p>
        </p:txBody>
      </p:sp>
      <p:sp>
        <p:nvSpPr>
          <p:cNvPr id="39" name="git-config">
            <a:extLst xmlns:a="http://schemas.openxmlformats.org/drawingml/2006/main">
              <a:ext uri="{FF2B5EF4-FFF2-40B4-BE49-F238E27FC236}">
                <a16:creationId xmlns:a16="http://schemas.microsoft.com/office/drawing/2014/main" id="{5A605E9A-2795-4EF9-9B9B-D79747B1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124450"/>
            <a:ext cx="23050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40" name="git-config-title">
            <a:extLst xmlns:a="http://schemas.openxmlformats.org/drawingml/2006/main">
              <a:ext uri="{FF2B5EF4-FFF2-40B4-BE49-F238E27FC236}">
                <a16:creationId xmlns:a16="http://schemas.microsoft.com/office/drawing/2014/main" id="{B7A858FD-9A89-484C-A36A-4AD2B9CE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238750"/>
            <a:ext cx="2114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Git 配置仓库</a:t>
            </a:r>
          </a:p>
        </p:txBody>
      </p:sp>
      <p:sp>
        <p:nvSpPr>
          <p:cNvPr id="41" name="git-config-body">
            <a:extLst xmlns:a="http://schemas.openxmlformats.org/drawingml/2006/main">
              <a:ext uri="{FF2B5EF4-FFF2-40B4-BE49-F238E27FC236}">
                <a16:creationId xmlns:a16="http://schemas.microsoft.com/office/drawing/2014/main" id="{E11C6126-6690-4EBC-920B-7B1C822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572125"/>
            <a:ext cx="2114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租户化 YAML 清单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唯一事实源 · 可审计回滚</a:t>
            </a:r>
          </a:p>
        </p:txBody>
      </p:sp>
      <p:sp>
        <p:nvSpPr>
          <p:cNvPr id="42" name="argocd-appset">
            <a:extLst xmlns:a="http://schemas.openxmlformats.org/drawingml/2006/main">
              <a:ext uri="{FF2B5EF4-FFF2-40B4-BE49-F238E27FC236}">
                <a16:creationId xmlns:a16="http://schemas.microsoft.com/office/drawing/2014/main" id="{A1584361-EED9-4477-BF3E-5F111DB6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124450"/>
            <a:ext cx="2905125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43" name="argocd-appset-title">
            <a:extLst xmlns:a="http://schemas.openxmlformats.org/drawingml/2006/main">
              <a:ext uri="{FF2B5EF4-FFF2-40B4-BE49-F238E27FC236}">
                <a16:creationId xmlns:a16="http://schemas.microsoft.com/office/drawing/2014/main" id="{8309F860-F798-4B00-8163-637C9937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5238750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Argo CD ApplicationSet</a:t>
            </a:r>
          </a:p>
        </p:txBody>
      </p:sp>
      <p:sp>
        <p:nvSpPr>
          <p:cNvPr id="44" name="argocd-appset-body">
            <a:extLst xmlns:a="http://schemas.openxmlformats.org/drawingml/2006/main">
              <a:ext uri="{FF2B5EF4-FFF2-40B4-BE49-F238E27FC236}">
                <a16:creationId xmlns:a16="http://schemas.microsoft.com/office/drawing/2014/main" id="{6A321591-07C3-4970-AC73-184FF7C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557212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按租户生成 Application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自动同步 · 漂移修复 · 回滚</a:t>
            </a:r>
          </a:p>
        </p:txBody>
      </p:sp>
      <p:sp>
        <p:nvSpPr>
          <p:cNvPr id="45" name="kubernetes-cluster">
            <a:extLst xmlns:a="http://schemas.openxmlformats.org/drawingml/2006/main">
              <a:ext uri="{FF2B5EF4-FFF2-40B4-BE49-F238E27FC236}">
                <a16:creationId xmlns:a16="http://schemas.microsoft.com/office/drawing/2014/main" id="{C2CE93A3-00AE-419A-B107-A84A9610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667500"/>
            <a:ext cx="11315700" cy="27051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cluster-title">
            <a:extLst xmlns:a="http://schemas.openxmlformats.org/drawingml/2006/main">
              <a:ext uri="{FF2B5EF4-FFF2-40B4-BE49-F238E27FC236}">
                <a16:creationId xmlns:a16="http://schemas.microsoft.com/office/drawing/2014/main" id="{2CB2D592-1210-498B-A7D5-F51CCB24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800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Kubernetes 智能算力集群</a:t>
            </a:r>
          </a:p>
        </p:txBody>
      </p:sp>
      <p:sp>
        <p:nvSpPr>
          <p:cNvPr id="47" name="tenant-a">
            <a:extLst xmlns:a="http://schemas.openxmlformats.org/drawingml/2006/main">
              <a:ext uri="{FF2B5EF4-FFF2-40B4-BE49-F238E27FC236}">
                <a16:creationId xmlns:a16="http://schemas.microsoft.com/office/drawing/2014/main" id="{1EEBB0F1-6A62-446B-8E63-C1F7CC19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7248525"/>
            <a:ext cx="52197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</p:sp>
      <p:sp>
        <p:nvSpPr>
          <p:cNvPr id="48" name="tenant-b">
            <a:extLst xmlns:a="http://schemas.openxmlformats.org/drawingml/2006/main">
              <a:ext uri="{FF2B5EF4-FFF2-40B4-BE49-F238E27FC236}">
                <a16:creationId xmlns:a16="http://schemas.microsoft.com/office/drawing/2014/main" id="{0CE63C3F-3AA5-418B-84C4-A72BFF9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7248525"/>
            <a:ext cx="52197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</p:sp>
      <p:sp>
        <p:nvSpPr>
          <p:cNvPr id="49" name="tenant-a-head">
            <a:extLst xmlns:a="http://schemas.openxmlformats.org/drawingml/2006/main">
              <a:ext uri="{FF2B5EF4-FFF2-40B4-BE49-F238E27FC236}">
                <a16:creationId xmlns:a16="http://schemas.microsoft.com/office/drawing/2014/main" id="{01AF2E13-F2E8-470C-A7D4-45ADD883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400925"/>
            <a:ext cx="4914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8AB"/>
          </a:solidFill>
          <a:ln xmlns:a="http://schemas.openxmlformats.org/drawingml/2006/main" w="19050">
            <a:solidFill>
              <a:srgbClr val="F7D8A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Tenant A Namespace</a:t>
            </a:r>
          </a:p>
        </p:txBody>
      </p:sp>
      <p:sp>
        <p:nvSpPr>
          <p:cNvPr id="50" name="tenant-b-head">
            <a:extLst xmlns:a="http://schemas.openxmlformats.org/drawingml/2006/main">
              <a:ext uri="{FF2B5EF4-FFF2-40B4-BE49-F238E27FC236}">
                <a16:creationId xmlns:a16="http://schemas.microsoft.com/office/drawing/2014/main" id="{6803A23B-760A-4188-B6D8-83D9552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7400925"/>
            <a:ext cx="4914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8AB"/>
          </a:solidFill>
          <a:ln xmlns:a="http://schemas.openxmlformats.org/drawingml/2006/main" w="19050">
            <a:solidFill>
              <a:srgbClr val="F7D8A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Tenant B Namespace</a:t>
            </a:r>
          </a:p>
        </p:txBody>
      </p:sp>
      <p:sp>
        <p:nvSpPr>
          <p:cNvPr id="51" name="tenant-a-resources">
            <a:extLst xmlns:a="http://schemas.openxmlformats.org/drawingml/2006/main">
              <a:ext uri="{FF2B5EF4-FFF2-40B4-BE49-F238E27FC236}">
                <a16:creationId xmlns:a16="http://schemas.microsoft.com/office/drawing/2014/main" id="{82B40608-3839-49D0-86E8-03FFF575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791527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+ RoleBinding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ResourceQuota + LimitRange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Deployment / Pod</a:t>
            </a:r>
          </a:p>
        </p:txBody>
      </p:sp>
      <p:sp>
        <p:nvSpPr>
          <p:cNvPr id="52" name="tenant-b-resources">
            <a:extLst xmlns:a="http://schemas.openxmlformats.org/drawingml/2006/main">
              <a:ext uri="{FF2B5EF4-FFF2-40B4-BE49-F238E27FC236}">
                <a16:creationId xmlns:a16="http://schemas.microsoft.com/office/drawing/2014/main" id="{57C02B06-84B5-4A0A-904B-BA02C1AB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91527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+ RoleBinding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ResourceQuota + LimitRange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Deployment / Pod</a:t>
            </a:r>
          </a:p>
        </p:txBody>
      </p:sp>
      <p:sp>
        <p:nvSpPr>
          <p:cNvPr id="53" name="service-a">
            <a:extLst xmlns:a="http://schemas.openxmlformats.org/drawingml/2006/main">
              <a:ext uri="{FF2B5EF4-FFF2-40B4-BE49-F238E27FC236}">
                <a16:creationId xmlns:a16="http://schemas.microsoft.com/office/drawing/2014/main" id="{2A71E1FA-EE16-4B32-B3F2-BB8B7C0F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7924800"/>
            <a:ext cx="186690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3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推理服务 A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CPU / GPU · Service</a:t>
            </a:r>
          </a:p>
        </p:txBody>
      </p:sp>
      <p:sp>
        <p:nvSpPr>
          <p:cNvPr id="54" name="service-b">
            <a:extLst xmlns:a="http://schemas.openxmlformats.org/drawingml/2006/main">
              <a:ext uri="{FF2B5EF4-FFF2-40B4-BE49-F238E27FC236}">
                <a16:creationId xmlns:a16="http://schemas.microsoft.com/office/drawing/2014/main" id="{467FBF00-EC07-47D8-AEFA-0621B6F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7924800"/>
            <a:ext cx="186690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3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推理服务 B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CPU / GPU · Service</a:t>
            </a:r>
          </a:p>
        </p:txBody>
      </p:sp>
      <p:sp>
        <p:nvSpPr>
          <p:cNvPr id="55" name="observability">
            <a:extLst xmlns:a="http://schemas.openxmlformats.org/drawingml/2006/main">
              <a:ext uri="{FF2B5EF4-FFF2-40B4-BE49-F238E27FC236}">
                <a16:creationId xmlns:a16="http://schemas.microsoft.com/office/drawing/2014/main" id="{31EE4FBB-09F1-49C5-9679-DA3BBC43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667500"/>
            <a:ext cx="3771900" cy="27051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observability-title">
            <a:extLst xmlns:a="http://schemas.openxmlformats.org/drawingml/2006/main">
              <a:ext uri="{FF2B5EF4-FFF2-40B4-BE49-F238E27FC236}">
                <a16:creationId xmlns:a16="http://schemas.microsoft.com/office/drawing/2014/main" id="{9ED420E2-9F72-4A46-A80C-2CED6083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800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可观测与告警中心</a:t>
            </a:r>
          </a:p>
        </p:txBody>
      </p:sp>
      <p:sp>
        <p:nvSpPr>
          <p:cNvPr id="57" name="prometheus">
            <a:extLst xmlns:a="http://schemas.openxmlformats.org/drawingml/2006/main">
              <a:ext uri="{FF2B5EF4-FFF2-40B4-BE49-F238E27FC236}">
                <a16:creationId xmlns:a16="http://schemas.microsoft.com/office/drawing/2014/main" id="{61D99D0A-A7DB-4C84-A1D1-19A1805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7286625"/>
            <a:ext cx="31242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集群 / 服务 / 推理指标采集</a:t>
            </a:r>
          </a:p>
        </p:txBody>
      </p:sp>
      <p:sp>
        <p:nvSpPr>
          <p:cNvPr id="58" name="grafana">
            <a:extLst xmlns:a="http://schemas.openxmlformats.org/drawingml/2006/main">
              <a:ext uri="{FF2B5EF4-FFF2-40B4-BE49-F238E27FC236}">
                <a16:creationId xmlns:a16="http://schemas.microsoft.com/office/drawing/2014/main" id="{21D16442-53D0-40D3-84FC-E5F4F65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8058150"/>
            <a:ext cx="1504950" cy="866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多租户看板</a:t>
            </a:r>
          </a:p>
        </p:txBody>
      </p:sp>
      <p:sp>
        <p:nvSpPr>
          <p:cNvPr id="59" name="alert-rules">
            <a:extLst xmlns:a="http://schemas.openxmlformats.org/drawingml/2006/main">
              <a:ext uri="{FF2B5EF4-FFF2-40B4-BE49-F238E27FC236}">
                <a16:creationId xmlns:a16="http://schemas.microsoft.com/office/drawing/2014/main" id="{1E8DF230-1387-49B7-97C0-169FDAA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058150"/>
            <a:ext cx="1504950" cy="866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Alert Rules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资源 / 延迟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流量 / 异常</a:t>
            </a:r>
          </a:p>
        </p:txBody>
      </p:sp>
      <p:cxnSp>
        <p:nvCxnSpPr>
          <p:cNvPr id="1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286500" y="18669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36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3609975" y="2352675"/>
            <a:ext cx="1247775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752975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9629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36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08585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39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37922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4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 flipH="1">
            <a:off x="7610475" y="6448425"/>
            <a:ext cx="8262938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45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13268325" y="8020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872D"/>
            </a:solidFill>
            <a:prstDash val="dash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59" idx="0"/>
            <a:endCxn xmlns:a="http://schemas.openxmlformats.org/drawingml/2006/main" id="57" idx="2"/>
          </p:cNvCxnSpPr>
          <p:nvPr/>
        </p:nvCxnSpPr>
        <p:spPr>
          <a:xfrm xmlns:a="http://schemas.openxmlformats.org/drawingml/2006/main" flipH="1" flipV="1">
            <a:off x="15440025" y="7915275"/>
            <a:ext cx="80962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872D"/>
            </a:solidFill>
            <a:prstDash val="dash"/>
            <a:tailEnd type="triangle" w="sm" len="sm"/>
          </a:ln>
        </p:spPr>
      </p:cxnSp>
      <p:sp>
        <p:nvSpPr>
          <p:cNvPr id="69" name="flow-1">
            <a:extLst xmlns:a="http://schemas.openxmlformats.org/drawingml/2006/main">
              <a:ext uri="{FF2B5EF4-FFF2-40B4-BE49-F238E27FC236}">
                <a16:creationId xmlns:a16="http://schemas.microsoft.com/office/drawing/2014/main" id="{CAF4CAB2-6817-4C7B-A6BA-8B1A3BC9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① 登录 / 创建服务</a:t>
            </a:r>
          </a:p>
        </p:txBody>
      </p:sp>
      <p:sp>
        <p:nvSpPr>
          <p:cNvPr id="70" name="flow-2">
            <a:extLst xmlns:a="http://schemas.openxmlformats.org/drawingml/2006/main">
              <a:ext uri="{FF2B5EF4-FFF2-40B4-BE49-F238E27FC236}">
                <a16:creationId xmlns:a16="http://schemas.microsoft.com/office/drawing/2014/main" id="{D93DAA7F-CCB0-42D6-B9DC-B785724A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② 构建</a:t>
            </a:r>
          </a:p>
        </p:txBody>
      </p:sp>
      <p:sp>
        <p:nvSpPr>
          <p:cNvPr id="71" name="flow-3">
            <a:extLst xmlns:a="http://schemas.openxmlformats.org/drawingml/2006/main">
              <a:ext uri="{FF2B5EF4-FFF2-40B4-BE49-F238E27FC236}">
                <a16:creationId xmlns:a16="http://schemas.microsoft.com/office/drawing/2014/main" id="{11D21A22-B8C5-4348-99DE-E3F33A86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③ 推送镜像</a:t>
            </a:r>
          </a:p>
        </p:txBody>
      </p:sp>
      <p:sp>
        <p:nvSpPr>
          <p:cNvPr id="72" name="flow-4">
            <a:extLst xmlns:a="http://schemas.openxmlformats.org/drawingml/2006/main">
              <a:ext uri="{FF2B5EF4-FFF2-40B4-BE49-F238E27FC236}">
                <a16:creationId xmlns:a16="http://schemas.microsoft.com/office/drawing/2014/main" id="{BA033249-2223-40BE-B328-2D3A1FC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④ 写入声明</a:t>
            </a:r>
          </a:p>
        </p:txBody>
      </p:sp>
      <p:sp>
        <p:nvSpPr>
          <p:cNvPr id="73" name="flow-5">
            <a:extLst xmlns:a="http://schemas.openxmlformats.org/drawingml/2006/main">
              <a:ext uri="{FF2B5EF4-FFF2-40B4-BE49-F238E27FC236}">
                <a16:creationId xmlns:a16="http://schemas.microsoft.com/office/drawing/2014/main" id="{7627A7AE-A8CB-4E82-B09F-7664D9EF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⑤ 持续同步</a:t>
            </a:r>
          </a:p>
        </p:txBody>
      </p:sp>
      <p:sp>
        <p:nvSpPr>
          <p:cNvPr id="74" name="flow-7">
            <a:extLst xmlns:a="http://schemas.openxmlformats.org/drawingml/2006/main">
              <a:ext uri="{FF2B5EF4-FFF2-40B4-BE49-F238E27FC236}">
                <a16:creationId xmlns:a16="http://schemas.microsoft.com/office/drawing/2014/main" id="{53D6EA33-A540-4442-AF90-F833CD30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83058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⑦ Metrics</a:t>
            </a:r>
          </a:p>
        </p:txBody>
      </p:sp>
      <p:sp>
        <p:nvSpPr>
          <p:cNvPr id="75" name="security-footer">
            <a:extLst xmlns:a="http://schemas.openxmlformats.org/drawingml/2006/main">
              <a:ext uri="{FF2B5EF4-FFF2-40B4-BE49-F238E27FC236}">
                <a16:creationId xmlns:a16="http://schemas.microsoft.com/office/drawing/2014/main" id="{7030A9FE-28EB-4F48-AFE7-D30A7FFF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582150"/>
            <a:ext cx="153733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17324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双层安全体系：平台层 JWT + Redis 认证　｜　集群层 Kubernetes RBAC 授权　｜　Namespace 级资源与权限隔离</a:t>
            </a:r>
          </a:p>
        </p:txBody>
      </p:sp>
    </p:spTree>
    <p:extLst>
      <p:ext uri="{BB962C8B-B14F-4D97-AF65-F5344CB8AC3E}">
        <p14:creationId xmlns:p14="http://schemas.microsoft.com/office/powerpoint/2010/main" val="1709390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2026-08-25T03:32:50.5610000Z</dcterms:created>
  <dcterms:modified xsi:type="dcterms:W3CDTF">2026-08-25T03:32:50.5610000Z</dcterms:modified>
</coreProperties>
</file>