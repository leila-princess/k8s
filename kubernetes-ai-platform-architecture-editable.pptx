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82880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description and previously created architecture visual; no external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" name="header"/>
          <p:cNvSpPr>
            <a:spLocks noGrp="1"/>
          </p:cNvSpPr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0B4F93"/>
          </a:solidFill>
          <a:ln w="0">
            <a:solidFill>
              <a:srgbClr val="0B4F93"/>
            </a:solidFill>
            <a:prstDash val="solid"/>
          </a:ln>
        </p:spPr>
      </p:sp>
      <p:sp>
        <p:nvSpPr>
          <p:cNvPr id="2" name="title"/>
          <p:cNvSpPr>
            <a:spLocks noGrp="1"/>
          </p:cNvSpPr>
          <p:nvPr/>
        </p:nvSpPr>
        <p:spPr>
          <a:xfrm>
            <a:off x="685800" y="17145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l">
              <a:defRPr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Kubernetes 的智能算力服务化平台</a:t>
            </a:r>
            <a:endParaRPr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704850" y="7239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75397"/>
          </a:bodyPr>
          <a:lstStyle/>
          <a:p>
            <a:pPr algn="l">
              <a:defRPr sz="1575" b="0">
                <a:solidFill>
                  <a:srgbClr val="D8E9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D8E9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镜像标准化 · GitOps 自动交付 · 多租户资源隔离 · 统一流量治理 · 全栈可观测</a:t>
            </a:r>
            <a:endParaRPr sz="1575" b="0">
              <a:solidFill>
                <a:srgbClr val="D8E9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yan-divider"/>
          <p:cNvSpPr>
            <a:spLocks noGrp="1"/>
          </p:cNvSpPr>
          <p:nvPr/>
        </p:nvSpPr>
        <p:spPr>
          <a:xfrm>
            <a:off x="0" y="1000125"/>
            <a:ext cx="18288000" cy="66675"/>
          </a:xfrm>
          <a:prstGeom prst="rect">
            <a:avLst/>
          </a:prstGeom>
          <a:solidFill>
            <a:srgbClr val="2CB7D7"/>
          </a:solidFill>
          <a:ln w="0">
            <a:solidFill>
              <a:srgbClr val="2CB7D7"/>
            </a:solidFill>
            <a:prstDash val="solid"/>
          </a:ln>
        </p:spPr>
      </p:sp>
      <p:sp>
        <p:nvSpPr>
          <p:cNvPr id="5" name="target-state"/>
          <p:cNvSpPr>
            <a:spLocks noGrp="1"/>
          </p:cNvSpPr>
          <p:nvPr/>
        </p:nvSpPr>
        <p:spPr>
          <a:xfrm>
            <a:off x="16383000" y="285750"/>
            <a:ext cx="1333500" cy="495300"/>
          </a:xfrm>
          <a:prstGeom prst="roundRect">
            <a:avLst>
              <a:gd name="adj" fmla="val 19231"/>
            </a:avLst>
          </a:prstGeom>
          <a:solidFill>
            <a:srgbClr val="397CB6"/>
          </a:solidFill>
          <a:ln w="19050">
            <a:solidFill>
              <a:srgbClr val="397CB6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目标态架构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ayer-访问层"/>
          <p:cNvSpPr>
            <a:spLocks noGrp="1"/>
          </p:cNvSpPr>
          <p:nvPr/>
        </p:nvSpPr>
        <p:spPr>
          <a:xfrm>
            <a:off x="342900" y="1381125"/>
            <a:ext cx="1219200" cy="971550"/>
          </a:xfrm>
          <a:prstGeom prst="roundRect">
            <a:avLst>
              <a:gd name="adj" fmla="val 15686"/>
            </a:avLst>
          </a:prstGeom>
          <a:solidFill>
            <a:srgbClr val="D8EDF9"/>
          </a:solidFill>
          <a:ln w="19050">
            <a:solidFill>
              <a:srgbClr val="D8EDF9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访问层</a:t>
            </a:r>
            <a:endParaRPr sz="18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ayer-平台控制层"/>
          <p:cNvSpPr>
            <a:spLocks noGrp="1"/>
          </p:cNvSpPr>
          <p:nvPr/>
        </p:nvSpPr>
        <p:spPr>
          <a:xfrm>
            <a:off x="342900" y="2571750"/>
            <a:ext cx="1219200" cy="2333625"/>
          </a:xfrm>
          <a:prstGeom prst="roundRect">
            <a:avLst>
              <a:gd name="adj" fmla="val 12500"/>
            </a:avLst>
          </a:prstGeom>
          <a:solidFill>
            <a:srgbClr val="E8E2F6"/>
          </a:solidFill>
          <a:ln w="19050">
            <a:solidFill>
              <a:srgbClr val="E8E2F6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平台控制层</a:t>
            </a:r>
            <a:endParaRPr sz="18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ayer-交付链路"/>
          <p:cNvSpPr>
            <a:spLocks noGrp="1"/>
          </p:cNvSpPr>
          <p:nvPr/>
        </p:nvSpPr>
        <p:spPr>
          <a:xfrm>
            <a:off x="342900" y="5124450"/>
            <a:ext cx="1219200" cy="1323975"/>
          </a:xfrm>
          <a:prstGeom prst="roundRect">
            <a:avLst>
              <a:gd name="adj" fmla="val 12500"/>
            </a:avLst>
          </a:prstGeom>
          <a:solidFill>
            <a:srgbClr val="E2F2EA"/>
          </a:solidFill>
          <a:ln w="19050">
            <a:solidFill>
              <a:srgbClr val="E2F2EA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交付链路</a:t>
            </a:r>
            <a:endParaRPr sz="18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layer-运行与观测层"/>
          <p:cNvSpPr>
            <a:spLocks noGrp="1"/>
          </p:cNvSpPr>
          <p:nvPr/>
        </p:nvSpPr>
        <p:spPr>
          <a:xfrm>
            <a:off x="342900" y="6667500"/>
            <a:ext cx="1219200" cy="2705100"/>
          </a:xfrm>
          <a:prstGeom prst="roundRect">
            <a:avLst>
              <a:gd name="adj" fmla="val 12500"/>
            </a:avLst>
          </a:prstGeom>
          <a:solidFill>
            <a:srgbClr val="FFF0DC"/>
          </a:solidFill>
          <a:ln w="19050">
            <a:solidFill>
              <a:srgbClr val="FFF0DC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运行与观测层</a:t>
            </a:r>
            <a:endParaRPr sz="18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latform-user"/>
          <p:cNvSpPr>
            <a:spLocks noGrp="1"/>
          </p:cNvSpPr>
          <p:nvPr/>
        </p:nvSpPr>
        <p:spPr>
          <a:xfrm>
            <a:off x="1952625" y="1381125"/>
            <a:ext cx="22479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9050">
            <a:solidFill>
              <a:srgbClr val="7BAF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平台用户 / 租户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 · OpenAPI · CLI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unified-entry"/>
          <p:cNvSpPr>
            <a:spLocks noGrp="1"/>
          </p:cNvSpPr>
          <p:nvPr/>
        </p:nvSpPr>
        <p:spPr>
          <a:xfrm>
            <a:off x="5362575" y="1381125"/>
            <a:ext cx="28956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9050">
            <a:solidFill>
              <a:srgbClr val="7BAF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统一访问入口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Ingress · Service · HTTPS / 域名路由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i-inference"/>
          <p:cNvSpPr>
            <a:spLocks noGrp="1"/>
          </p:cNvSpPr>
          <p:nvPr/>
        </p:nvSpPr>
        <p:spPr>
          <a:xfrm>
            <a:off x="13306425" y="1381125"/>
            <a:ext cx="40195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9050">
            <a:solidFill>
              <a:srgbClr val="7BAF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推理服务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稳定端点 · 弹性副本 · CPU / GPU 工作负载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go-control-plane"/>
          <p:cNvSpPr>
            <a:spLocks noGrp="1"/>
          </p:cNvSpPr>
          <p:nvPr/>
        </p:nvSpPr>
        <p:spPr>
          <a:xfrm>
            <a:off x="1952625" y="2571750"/>
            <a:ext cx="15373350" cy="23336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9D8BC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control-plane-header"/>
          <p:cNvSpPr>
            <a:spLocks noGrp="1"/>
          </p:cNvSpPr>
          <p:nvPr/>
        </p:nvSpPr>
        <p:spPr>
          <a:xfrm>
            <a:off x="1971675" y="2590800"/>
            <a:ext cx="15335250" cy="457200"/>
          </a:xfrm>
          <a:prstGeom prst="rect">
            <a:avLst/>
          </a:prstGeom>
          <a:solidFill>
            <a:srgbClr val="E8E2F6"/>
          </a:solidFill>
          <a:ln w="0">
            <a:solidFill>
              <a:srgbClr val="E8E2F6"/>
            </a:solidFill>
            <a:prstDash val="solid"/>
          </a:ln>
        </p:spPr>
      </p:sp>
      <p:sp>
        <p:nvSpPr>
          <p:cNvPr id="15" name="control-plane-title"/>
          <p:cNvSpPr>
            <a:spLocks noGrp="1"/>
          </p:cNvSpPr>
          <p:nvPr/>
        </p:nvSpPr>
        <p:spPr>
          <a:xfrm>
            <a:off x="2266950" y="262890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6154"/>
          </a:bodyPr>
          <a:lstStyle/>
          <a:p>
            <a:pPr algn="l">
              <a:defRPr sz="1950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平台控制面（REST API + client-go）</a:t>
            </a:r>
            <a:endParaRPr sz="1950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h-tenant"/>
          <p:cNvSpPr>
            <a:spLocks noGrp="1"/>
          </p:cNvSpPr>
          <p:nvPr/>
        </p:nvSpPr>
        <p:spPr>
          <a:xfrm>
            <a:off x="2276475" y="3267075"/>
            <a:ext cx="2667000" cy="1276350"/>
          </a:xfrm>
          <a:prstGeom prst="roundRect">
            <a:avLst>
              <a:gd name="adj" fmla="val 10448"/>
            </a:avLst>
          </a:prstGeom>
          <a:solidFill>
            <a:srgbClr val="F8F5FC"/>
          </a:solidFill>
          <a:ln w="19050">
            <a:solidFill>
              <a:srgbClr val="B5A6D4"/>
            </a:solidFill>
            <a:prstDash val="solid"/>
          </a:ln>
        </p:spPr>
      </p:sp>
      <p:sp>
        <p:nvSpPr>
          <p:cNvPr id="17" name="auth-tenant-title"/>
          <p:cNvSpPr>
            <a:spLocks noGrp="1"/>
          </p:cNvSpPr>
          <p:nvPr/>
        </p:nvSpPr>
        <p:spPr>
          <a:xfrm>
            <a:off x="2371725" y="3381375"/>
            <a:ext cx="2476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认证与租户管理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h-tenant-body"/>
          <p:cNvSpPr>
            <a:spLocks noGrp="1"/>
          </p:cNvSpPr>
          <p:nvPr/>
        </p:nvSpPr>
        <p:spPr>
          <a:xfrm>
            <a:off x="2371725" y="37147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+ Redis 会话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/ 租户 / 项目空间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image-build"/>
          <p:cNvSpPr>
            <a:spLocks noGrp="1"/>
          </p:cNvSpPr>
          <p:nvPr/>
        </p:nvSpPr>
        <p:spPr>
          <a:xfrm>
            <a:off x="5248275" y="3267075"/>
            <a:ext cx="2667000" cy="1276350"/>
          </a:xfrm>
          <a:prstGeom prst="roundRect">
            <a:avLst>
              <a:gd name="adj" fmla="val 10448"/>
            </a:avLst>
          </a:prstGeom>
          <a:solidFill>
            <a:srgbClr val="F8F5FC"/>
          </a:solidFill>
          <a:ln w="19050">
            <a:solidFill>
              <a:srgbClr val="B5A6D4"/>
            </a:solidFill>
            <a:prstDash val="solid"/>
          </a:ln>
        </p:spPr>
      </p:sp>
      <p:sp>
        <p:nvSpPr>
          <p:cNvPr id="20" name="image-build-title"/>
          <p:cNvSpPr>
            <a:spLocks noGrp="1"/>
          </p:cNvSpPr>
          <p:nvPr/>
        </p:nvSpPr>
        <p:spPr>
          <a:xfrm>
            <a:off x="5343525" y="3381375"/>
            <a:ext cx="2476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镜像构建服务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image-build-body"/>
          <p:cNvSpPr>
            <a:spLocks noGrp="1"/>
          </p:cNvSpPr>
          <p:nvPr/>
        </p:nvSpPr>
        <p:spPr>
          <a:xfrm>
            <a:off x="5343525" y="37147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Dockerfile 模板化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异步任务 · 构建日志 · 制品交付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k8s-orchestrator"/>
          <p:cNvSpPr>
            <a:spLocks noGrp="1"/>
          </p:cNvSpPr>
          <p:nvPr/>
        </p:nvSpPr>
        <p:spPr>
          <a:xfrm>
            <a:off x="8220075" y="3267075"/>
            <a:ext cx="3200400" cy="1276350"/>
          </a:xfrm>
          <a:prstGeom prst="roundRect">
            <a:avLst>
              <a:gd name="adj" fmla="val 10448"/>
            </a:avLst>
          </a:prstGeom>
          <a:solidFill>
            <a:srgbClr val="F8F5FC"/>
          </a:solidFill>
          <a:ln w="19050">
            <a:solidFill>
              <a:srgbClr val="B5A6D4"/>
            </a:solidFill>
            <a:prstDash val="solid"/>
          </a:ln>
        </p:spPr>
      </p:sp>
      <p:sp>
        <p:nvSpPr>
          <p:cNvPr id="23" name="k8s-orchestrator-title"/>
          <p:cNvSpPr>
            <a:spLocks noGrp="1"/>
          </p:cNvSpPr>
          <p:nvPr/>
        </p:nvSpPr>
        <p:spPr>
          <a:xfrm>
            <a:off x="8315325" y="3381375"/>
            <a:ext cx="3009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 编排器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k8s-orchestrator-body"/>
          <p:cNvSpPr>
            <a:spLocks noGrp="1"/>
          </p:cNvSpPr>
          <p:nvPr/>
        </p:nvSpPr>
        <p:spPr>
          <a:xfrm>
            <a:off x="8315325" y="3714750"/>
            <a:ext cx="3009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Namespace · Quota · LimitRange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ServiceAccount · RBAC · CPU / 内存 / GPU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gitops-manager"/>
          <p:cNvSpPr>
            <a:spLocks noGrp="1"/>
          </p:cNvSpPr>
          <p:nvPr/>
        </p:nvSpPr>
        <p:spPr>
          <a:xfrm>
            <a:off x="11725275" y="3267075"/>
            <a:ext cx="2552700" cy="1276350"/>
          </a:xfrm>
          <a:prstGeom prst="roundRect">
            <a:avLst>
              <a:gd name="adj" fmla="val 10448"/>
            </a:avLst>
          </a:prstGeom>
          <a:solidFill>
            <a:srgbClr val="F8F5FC"/>
          </a:solidFill>
          <a:ln w="19050">
            <a:solidFill>
              <a:srgbClr val="B5A6D4"/>
            </a:solidFill>
            <a:prstDash val="solid"/>
          </a:ln>
        </p:spPr>
      </p:sp>
      <p:sp>
        <p:nvSpPr>
          <p:cNvPr id="26" name="gitops-manager-title"/>
          <p:cNvSpPr>
            <a:spLocks noGrp="1"/>
          </p:cNvSpPr>
          <p:nvPr/>
        </p:nvSpPr>
        <p:spPr>
          <a:xfrm>
            <a:off x="11820525" y="3381375"/>
            <a:ext cx="2362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GitOps 发布管理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gitops-manager-body"/>
          <p:cNvSpPr>
            <a:spLocks noGrp="1"/>
          </p:cNvSpPr>
          <p:nvPr/>
        </p:nvSpPr>
        <p:spPr>
          <a:xfrm>
            <a:off x="11820525" y="3714750"/>
            <a:ext cx="2362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配置生成 · 版本追踪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 / 回滚 / 状态同步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ervice-governance"/>
          <p:cNvSpPr>
            <a:spLocks noGrp="1"/>
          </p:cNvSpPr>
          <p:nvPr/>
        </p:nvSpPr>
        <p:spPr>
          <a:xfrm>
            <a:off x="14582775" y="3267075"/>
            <a:ext cx="2419350" cy="1276350"/>
          </a:xfrm>
          <a:prstGeom prst="roundRect">
            <a:avLst>
              <a:gd name="adj" fmla="val 10448"/>
            </a:avLst>
          </a:prstGeom>
          <a:solidFill>
            <a:srgbClr val="F8F5FC"/>
          </a:solidFill>
          <a:ln w="19050">
            <a:solidFill>
              <a:srgbClr val="B5A6D4"/>
            </a:solidFill>
            <a:prstDash val="solid"/>
          </a:ln>
        </p:spPr>
      </p:sp>
      <p:sp>
        <p:nvSpPr>
          <p:cNvPr id="29" name="service-governance-title"/>
          <p:cNvSpPr>
            <a:spLocks noGrp="1"/>
          </p:cNvSpPr>
          <p:nvPr/>
        </p:nvSpPr>
        <p:spPr>
          <a:xfrm>
            <a:off x="14678025" y="3381375"/>
            <a:ext cx="2228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服务治理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ervice-governance-body"/>
          <p:cNvSpPr>
            <a:spLocks noGrp="1"/>
          </p:cNvSpPr>
          <p:nvPr/>
        </p:nvSpPr>
        <p:spPr>
          <a:xfrm>
            <a:off x="14678025" y="3714750"/>
            <a:ext cx="2228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 / Ingress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健康检查 · 路由策略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ource-assets"/>
          <p:cNvSpPr>
            <a:spLocks noGrp="1"/>
          </p:cNvSpPr>
          <p:nvPr/>
        </p:nvSpPr>
        <p:spPr>
          <a:xfrm>
            <a:off x="1952625" y="5124450"/>
            <a:ext cx="28003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19050">
            <a:solidFill>
              <a:srgbClr val="65A985"/>
            </a:solidFill>
            <a:prstDash val="solid"/>
          </a:ln>
        </p:spPr>
      </p:sp>
      <p:sp>
        <p:nvSpPr>
          <p:cNvPr id="32" name="source-assets-title"/>
          <p:cNvSpPr>
            <a:spLocks noGrp="1"/>
          </p:cNvSpPr>
          <p:nvPr/>
        </p:nvSpPr>
        <p:spPr>
          <a:xfrm>
            <a:off x="2047875" y="5238750"/>
            <a:ext cx="2609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源码与模型资产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ource-assets-body"/>
          <p:cNvSpPr>
            <a:spLocks noGrp="1"/>
          </p:cNvSpPr>
          <p:nvPr/>
        </p:nvSpPr>
        <p:spPr>
          <a:xfrm>
            <a:off x="2047875" y="5572125"/>
            <a:ext cx="26098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仓库 · 模型文件 · Dockerfile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提交触发构建 / 发布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docker-pipeline"/>
          <p:cNvSpPr>
            <a:spLocks noGrp="1"/>
          </p:cNvSpPr>
          <p:nvPr/>
        </p:nvSpPr>
        <p:spPr>
          <a:xfrm>
            <a:off x="5381625" y="5124450"/>
            <a:ext cx="2581275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19050">
            <a:solidFill>
              <a:srgbClr val="65A985"/>
            </a:solidFill>
            <a:prstDash val="solid"/>
          </a:ln>
        </p:spPr>
      </p:sp>
      <p:sp>
        <p:nvSpPr>
          <p:cNvPr id="35" name="docker-pipeline-title"/>
          <p:cNvSpPr>
            <a:spLocks noGrp="1"/>
          </p:cNvSpPr>
          <p:nvPr/>
        </p:nvSpPr>
        <p:spPr>
          <a:xfrm>
            <a:off x="5476875" y="5238750"/>
            <a:ext cx="2390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构建流水线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docker-pipeline-body"/>
          <p:cNvSpPr>
            <a:spLocks noGrp="1"/>
          </p:cNvSpPr>
          <p:nvPr/>
        </p:nvSpPr>
        <p:spPr>
          <a:xfrm>
            <a:off x="5476875" y="5572125"/>
            <a:ext cx="23907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标准基础镜像 · 依赖固化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异步构建 + 镜像扫描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harbor"/>
          <p:cNvSpPr>
            <a:spLocks noGrp="1"/>
          </p:cNvSpPr>
          <p:nvPr/>
        </p:nvSpPr>
        <p:spPr>
          <a:xfrm>
            <a:off x="8591550" y="5124450"/>
            <a:ext cx="22669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19050">
            <a:solidFill>
              <a:srgbClr val="65A985"/>
            </a:solidFill>
            <a:prstDash val="solid"/>
          </a:ln>
        </p:spPr>
      </p:sp>
      <p:sp>
        <p:nvSpPr>
          <p:cNvPr id="38" name="harbor-title"/>
          <p:cNvSpPr>
            <a:spLocks noGrp="1"/>
          </p:cNvSpPr>
          <p:nvPr/>
        </p:nvSpPr>
        <p:spPr>
          <a:xfrm>
            <a:off x="8686800" y="5238750"/>
            <a:ext cx="2076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Harbor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harbor-body"/>
          <p:cNvSpPr>
            <a:spLocks noGrp="1"/>
          </p:cNvSpPr>
          <p:nvPr/>
        </p:nvSpPr>
        <p:spPr>
          <a:xfrm>
            <a:off x="8686800" y="5572125"/>
            <a:ext cx="20764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私有镜像仓库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Tag / 版本 / 制品交付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git-config"/>
          <p:cNvSpPr>
            <a:spLocks noGrp="1"/>
          </p:cNvSpPr>
          <p:nvPr/>
        </p:nvSpPr>
        <p:spPr>
          <a:xfrm>
            <a:off x="11487150" y="5124450"/>
            <a:ext cx="23050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19050">
            <a:solidFill>
              <a:srgbClr val="65A985"/>
            </a:solidFill>
            <a:prstDash val="solid"/>
          </a:ln>
        </p:spPr>
      </p:sp>
      <p:sp>
        <p:nvSpPr>
          <p:cNvPr id="41" name="git-config-title"/>
          <p:cNvSpPr>
            <a:spLocks noGrp="1"/>
          </p:cNvSpPr>
          <p:nvPr/>
        </p:nvSpPr>
        <p:spPr>
          <a:xfrm>
            <a:off x="11582400" y="5238750"/>
            <a:ext cx="2114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配置仓库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git-config-body"/>
          <p:cNvSpPr>
            <a:spLocks noGrp="1"/>
          </p:cNvSpPr>
          <p:nvPr/>
        </p:nvSpPr>
        <p:spPr>
          <a:xfrm>
            <a:off x="11582400" y="5572125"/>
            <a:ext cx="21145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租户化 YAML 清单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唯一事实源 · 可审计回滚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rgocd-appset"/>
          <p:cNvSpPr>
            <a:spLocks noGrp="1"/>
          </p:cNvSpPr>
          <p:nvPr/>
        </p:nvSpPr>
        <p:spPr>
          <a:xfrm>
            <a:off x="14420850" y="5124450"/>
            <a:ext cx="2905125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19050">
            <a:solidFill>
              <a:srgbClr val="65A985"/>
            </a:solidFill>
            <a:prstDash val="solid"/>
          </a:ln>
        </p:spPr>
      </p:sp>
      <p:sp>
        <p:nvSpPr>
          <p:cNvPr id="44" name="argocd-appset-title"/>
          <p:cNvSpPr>
            <a:spLocks noGrp="1"/>
          </p:cNvSpPr>
          <p:nvPr/>
        </p:nvSpPr>
        <p:spPr>
          <a:xfrm>
            <a:off x="14516100" y="5238750"/>
            <a:ext cx="2714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3333"/>
          </a:bodyPr>
          <a:lstStyle/>
          <a:p>
            <a:pPr algn="ctr">
              <a:def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Argo CD ApplicationSet</a:t>
            </a:r>
            <a:endParaRPr sz="17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argocd-appset-body"/>
          <p:cNvSpPr>
            <a:spLocks noGrp="1"/>
          </p:cNvSpPr>
          <p:nvPr/>
        </p:nvSpPr>
        <p:spPr>
          <a:xfrm>
            <a:off x="14516100" y="5572125"/>
            <a:ext cx="271462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按租户生成 Application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自动同步 · 漂移修复 · 回滚</a:t>
            </a:r>
            <a:endParaRPr sz="1350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kubernetes-cluster"/>
          <p:cNvSpPr>
            <a:spLocks noGrp="1"/>
          </p:cNvSpPr>
          <p:nvPr/>
        </p:nvSpPr>
        <p:spPr>
          <a:xfrm>
            <a:off x="1952625" y="6667500"/>
            <a:ext cx="11315700" cy="27051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E4872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cluster-title"/>
          <p:cNvSpPr>
            <a:spLocks noGrp="1"/>
          </p:cNvSpPr>
          <p:nvPr/>
        </p:nvSpPr>
        <p:spPr>
          <a:xfrm>
            <a:off x="2266950" y="68008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l">
              <a:defRPr sz="20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 智能算力集群</a:t>
            </a:r>
            <a:endParaRPr sz="20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nant-a"/>
          <p:cNvSpPr>
            <a:spLocks noGrp="1"/>
          </p:cNvSpPr>
          <p:nvPr/>
        </p:nvSpPr>
        <p:spPr>
          <a:xfrm>
            <a:off x="2276475" y="7248525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FF8EF"/>
          </a:solidFill>
          <a:ln w="19050">
            <a:solidFill>
              <a:srgbClr val="E3AE6D"/>
            </a:solidFill>
            <a:prstDash val="solid"/>
          </a:ln>
        </p:spPr>
      </p:sp>
      <p:sp>
        <p:nvSpPr>
          <p:cNvPr id="49" name="tenant-b"/>
          <p:cNvSpPr>
            <a:spLocks noGrp="1"/>
          </p:cNvSpPr>
          <p:nvPr/>
        </p:nvSpPr>
        <p:spPr>
          <a:xfrm>
            <a:off x="7724775" y="7248525"/>
            <a:ext cx="5219700" cy="1752600"/>
          </a:xfrm>
          <a:prstGeom prst="roundRect">
            <a:avLst>
              <a:gd name="adj" fmla="val 8696"/>
            </a:avLst>
          </a:prstGeom>
          <a:solidFill>
            <a:srgbClr val="FFF8EF"/>
          </a:solidFill>
          <a:ln w="19050">
            <a:solidFill>
              <a:srgbClr val="E3AE6D"/>
            </a:solidFill>
            <a:prstDash val="solid"/>
          </a:ln>
        </p:spPr>
      </p:sp>
      <p:sp>
        <p:nvSpPr>
          <p:cNvPr id="50" name="tenant-a-head"/>
          <p:cNvSpPr>
            <a:spLocks noGrp="1"/>
          </p:cNvSpPr>
          <p:nvPr/>
        </p:nvSpPr>
        <p:spPr>
          <a:xfrm>
            <a:off x="2428875" y="7400925"/>
            <a:ext cx="4914900" cy="342900"/>
          </a:xfrm>
          <a:prstGeom prst="roundRect">
            <a:avLst>
              <a:gd name="adj" fmla="val 25000"/>
            </a:avLst>
          </a:prstGeom>
          <a:solidFill>
            <a:srgbClr val="F7D8AB"/>
          </a:solidFill>
          <a:ln w="19050">
            <a:solidFill>
              <a:srgbClr val="F7D8AB"/>
            </a:solidFill>
            <a:prstDash val="solid"/>
          </a:ln>
        </p:spPr>
        <p:txBody>
          <a:bodyPr wrap="square" lIns="76200" tIns="38100" rIns="76200" bIns="38100" anchor="ctr">
            <a:normAutofit fontScale="90190"/>
          </a:bodyPr>
          <a:lstStyle/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Tenant A Namespace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nant-b-head"/>
          <p:cNvSpPr>
            <a:spLocks noGrp="1"/>
          </p:cNvSpPr>
          <p:nvPr/>
        </p:nvSpPr>
        <p:spPr>
          <a:xfrm>
            <a:off x="7877175" y="7400925"/>
            <a:ext cx="4914900" cy="342900"/>
          </a:xfrm>
          <a:prstGeom prst="roundRect">
            <a:avLst>
              <a:gd name="adj" fmla="val 25000"/>
            </a:avLst>
          </a:prstGeom>
          <a:solidFill>
            <a:srgbClr val="F7D8AB"/>
          </a:solidFill>
          <a:ln w="19050">
            <a:solidFill>
              <a:srgbClr val="F7D8AB"/>
            </a:solidFill>
            <a:prstDash val="solid"/>
          </a:ln>
        </p:spPr>
        <p:txBody>
          <a:bodyPr wrap="square" lIns="76200" tIns="38100" rIns="76200" bIns="38100" anchor="ctr">
            <a:normAutofit fontScale="90190"/>
          </a:bodyPr>
          <a:lstStyle/>
          <a:p>
            <a:pPr algn="ctr">
              <a:def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Tenant B Namespace</a:t>
            </a:r>
            <a:endParaRPr sz="157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nant-a-resources"/>
          <p:cNvSpPr>
            <a:spLocks noGrp="1"/>
          </p:cNvSpPr>
          <p:nvPr/>
        </p:nvSpPr>
        <p:spPr>
          <a:xfrm>
            <a:off x="2543175" y="7915275"/>
            <a:ext cx="261937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ServiceAccount + RoleBinding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ResourceQuota + LimitRange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Deployment / Pod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nant-b-resources"/>
          <p:cNvSpPr>
            <a:spLocks noGrp="1"/>
          </p:cNvSpPr>
          <p:nvPr/>
        </p:nvSpPr>
        <p:spPr>
          <a:xfrm>
            <a:off x="7991475" y="7915275"/>
            <a:ext cx="261937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ServiceAccount + RoleBinding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ResourceQuota + LimitRange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Deployment / Pod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service-a"/>
          <p:cNvSpPr>
            <a:spLocks noGrp="1"/>
          </p:cNvSpPr>
          <p:nvPr/>
        </p:nvSpPr>
        <p:spPr>
          <a:xfrm>
            <a:off x="5248275" y="7924800"/>
            <a:ext cx="18669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9050">
            <a:solidFill>
              <a:srgbClr val="E3AE6D"/>
            </a:solidFill>
            <a:prstDash val="solid"/>
          </a:ln>
        </p:spPr>
        <p:txBody>
          <a:bodyPr wrap="square" lIns="76200" tIns="38100" rIns="76200" bIns="38100" anchor="ctr">
            <a:normAutofit fontScale="99372"/>
          </a:bodyPr>
          <a:lstStyle/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推理服务 A</a:t>
            </a:r>
            <a:endParaRPr sz="14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/ GPU · Service</a:t>
            </a:r>
            <a:endParaRPr sz="14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service-b"/>
          <p:cNvSpPr>
            <a:spLocks noGrp="1"/>
          </p:cNvSpPr>
          <p:nvPr/>
        </p:nvSpPr>
        <p:spPr>
          <a:xfrm>
            <a:off x="10696575" y="7924800"/>
            <a:ext cx="18669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9050">
            <a:solidFill>
              <a:srgbClr val="E3AE6D"/>
            </a:solidFill>
            <a:prstDash val="solid"/>
          </a:ln>
        </p:spPr>
        <p:txBody>
          <a:bodyPr wrap="square" lIns="76200" tIns="38100" rIns="76200" bIns="38100" anchor="ctr">
            <a:normAutofit fontScale="99372"/>
          </a:bodyPr>
          <a:lstStyle/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推理服务 B</a:t>
            </a:r>
            <a:endParaRPr sz="14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/ GPU · Service</a:t>
            </a:r>
            <a:endParaRPr sz="14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observability"/>
          <p:cNvSpPr>
            <a:spLocks noGrp="1"/>
          </p:cNvSpPr>
          <p:nvPr/>
        </p:nvSpPr>
        <p:spPr>
          <a:xfrm>
            <a:off x="13554075" y="6667500"/>
            <a:ext cx="3771900" cy="27051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9050">
            <a:solidFill>
              <a:srgbClr val="E4872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7" name="observability-title"/>
          <p:cNvSpPr>
            <a:spLocks noGrp="1"/>
          </p:cNvSpPr>
          <p:nvPr/>
        </p:nvSpPr>
        <p:spPr>
          <a:xfrm>
            <a:off x="13858875" y="68008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l">
              <a:defRPr sz="20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可观测与告警中心</a:t>
            </a:r>
            <a:endParaRPr sz="2025" b="1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rometheus"/>
          <p:cNvSpPr>
            <a:spLocks noGrp="1"/>
          </p:cNvSpPr>
          <p:nvPr/>
        </p:nvSpPr>
        <p:spPr>
          <a:xfrm>
            <a:off x="13877925" y="7286625"/>
            <a:ext cx="3124200" cy="628650"/>
          </a:xfrm>
          <a:prstGeom prst="roundRect">
            <a:avLst>
              <a:gd name="adj" fmla="val 19697"/>
            </a:avLst>
          </a:prstGeom>
          <a:solidFill>
            <a:srgbClr val="FFF1E3"/>
          </a:solidFill>
          <a:ln w="19050">
            <a:solidFill>
              <a:srgbClr val="FFF1E3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Prometheus</a:t>
            </a:r>
            <a:endParaRPr sz="1425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 / 服务 / 推理指标采集</a:t>
            </a:r>
            <a:endParaRPr sz="1425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grafana"/>
          <p:cNvSpPr>
            <a:spLocks noGrp="1"/>
          </p:cNvSpPr>
          <p:nvPr/>
        </p:nvSpPr>
        <p:spPr>
          <a:xfrm>
            <a:off x="13877925" y="8058150"/>
            <a:ext cx="1504950" cy="866775"/>
          </a:xfrm>
          <a:prstGeom prst="roundRect">
            <a:avLst>
              <a:gd name="adj" fmla="val 14286"/>
            </a:avLst>
          </a:prstGeom>
          <a:solidFill>
            <a:srgbClr val="FFF1E3"/>
          </a:solidFill>
          <a:ln w="19050">
            <a:solidFill>
              <a:srgbClr val="FFF1E3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500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Grafana</a:t>
            </a:r>
            <a:endParaRPr sz="1500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多租户看板</a:t>
            </a:r>
            <a:endParaRPr sz="1500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alert-rules"/>
          <p:cNvSpPr>
            <a:spLocks noGrp="1"/>
          </p:cNvSpPr>
          <p:nvPr/>
        </p:nvSpPr>
        <p:spPr>
          <a:xfrm>
            <a:off x="15497175" y="8058150"/>
            <a:ext cx="1504950" cy="866775"/>
          </a:xfrm>
          <a:prstGeom prst="roundRect">
            <a:avLst>
              <a:gd name="adj" fmla="val 14286"/>
            </a:avLst>
          </a:prstGeom>
          <a:solidFill>
            <a:srgbClr val="FFF1E3"/>
          </a:solidFill>
          <a:ln w="19050">
            <a:solidFill>
              <a:srgbClr val="FFF1E3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Alert Rules</a:t>
            </a:r>
            <a:endParaRPr sz="1425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 / 延迟</a:t>
            </a:r>
            <a:endParaRPr sz="1425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32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 / 异常</a:t>
            </a:r>
            <a:endParaRPr sz="1425" b="0">
              <a:solidFill>
                <a:srgbClr val="1732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0" name="直接箭头连接符 139"/>
          <p:cNvCxnSpPr>
            <a:stCxn id="10" idx="3"/>
            <a:endCxn id="11" idx="1"/>
          </p:cNvCxnSpPr>
          <p:nvPr/>
        </p:nvCxnSpPr>
        <p:spPr>
          <a:xfrm>
            <a:off x="4200525" y="1866900"/>
            <a:ext cx="1162050" cy="0"/>
          </a:xfrm>
          <a:prstGeom prst="straightConnector1">
            <a:avLst/>
          </a:prstGeom>
          <a:ln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41" name="直接箭头连接符 140"/>
          <p:cNvCxnSpPr>
            <a:stCxn id="11" idx="3"/>
            <a:endCxn id="12" idx="1"/>
          </p:cNvCxnSpPr>
          <p:nvPr/>
        </p:nvCxnSpPr>
        <p:spPr>
          <a:xfrm>
            <a:off x="8258175" y="1866900"/>
            <a:ext cx="5048250" cy="0"/>
          </a:xfrm>
          <a:prstGeom prst="straightConnector1">
            <a:avLst/>
          </a:prstGeom>
          <a:ln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42" name="肘形连接符 141"/>
          <p:cNvCxnSpPr>
            <a:stCxn id="11" idx="2"/>
            <a:endCxn id="16" idx="0"/>
          </p:cNvCxnSpPr>
          <p:nvPr/>
        </p:nvCxnSpPr>
        <p:spPr>
          <a:xfrm flipH="1">
            <a:off x="3609975" y="2352675"/>
            <a:ext cx="3200400" cy="914400"/>
          </a:xfrm>
          <a:prstGeom prst="bentConnector4">
            <a:avLst>
              <a:gd name="adj1" fmla="val 0"/>
              <a:gd name="adj2" fmla="val 29375"/>
            </a:avLst>
          </a:prstGeom>
          <a:ln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3" name="直接箭头连接符 142"/>
          <p:cNvCxnSpPr>
            <a:stCxn id="31" idx="3"/>
            <a:endCxn id="34" idx="1"/>
          </p:cNvCxnSpPr>
          <p:nvPr/>
        </p:nvCxnSpPr>
        <p:spPr>
          <a:xfrm>
            <a:off x="4752975" y="5786438"/>
            <a:ext cx="628650" cy="0"/>
          </a:xfrm>
          <a:prstGeom prst="straightConnector1">
            <a:avLst/>
          </a:prstGeom>
          <a:ln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4" name="直接箭头连接符 143"/>
          <p:cNvCxnSpPr>
            <a:stCxn id="34" idx="3"/>
            <a:endCxn id="37" idx="1"/>
          </p:cNvCxnSpPr>
          <p:nvPr/>
        </p:nvCxnSpPr>
        <p:spPr>
          <a:xfrm>
            <a:off x="7962900" y="5786438"/>
            <a:ext cx="628650" cy="0"/>
          </a:xfrm>
          <a:prstGeom prst="straightConnector1">
            <a:avLst/>
          </a:prstGeom>
          <a:ln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5" name="直接箭头连接符 144"/>
          <p:cNvCxnSpPr>
            <a:stCxn id="37" idx="3"/>
            <a:endCxn id="40" idx="1"/>
          </p:cNvCxnSpPr>
          <p:nvPr/>
        </p:nvCxnSpPr>
        <p:spPr>
          <a:xfrm>
            <a:off x="10858500" y="5786438"/>
            <a:ext cx="628650" cy="0"/>
          </a:xfrm>
          <a:prstGeom prst="straightConnector1">
            <a:avLst/>
          </a:prstGeom>
          <a:ln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6" name="直接箭头连接符 145"/>
          <p:cNvCxnSpPr>
            <a:stCxn id="40" idx="3"/>
            <a:endCxn id="43" idx="1"/>
          </p:cNvCxnSpPr>
          <p:nvPr/>
        </p:nvCxnSpPr>
        <p:spPr>
          <a:xfrm>
            <a:off x="13792200" y="5786438"/>
            <a:ext cx="628650" cy="0"/>
          </a:xfrm>
          <a:prstGeom prst="straightConnector1">
            <a:avLst/>
          </a:prstGeom>
          <a:ln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7" name="肘形连接符 146"/>
          <p:cNvCxnSpPr>
            <a:stCxn id="43" idx="2"/>
            <a:endCxn id="46" idx="0"/>
          </p:cNvCxnSpPr>
          <p:nvPr/>
        </p:nvCxnSpPr>
        <p:spPr>
          <a:xfrm flipH="1">
            <a:off x="7610475" y="6448425"/>
            <a:ext cx="8262938" cy="2190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8" name="肘形连接符 147"/>
          <p:cNvCxnSpPr>
            <a:stCxn id="12" idx="2"/>
            <a:endCxn id="55" idx="0"/>
          </p:cNvCxnSpPr>
          <p:nvPr/>
        </p:nvCxnSpPr>
        <p:spPr>
          <a:xfrm flipH="1">
            <a:off x="11630025" y="2352675"/>
            <a:ext cx="3686175" cy="5572125"/>
          </a:xfrm>
          <a:prstGeom prst="bentConnector4">
            <a:avLst>
              <a:gd name="adj1" fmla="val 0"/>
              <a:gd name="adj2" fmla="val 50000"/>
            </a:avLst>
          </a:prstGeom>
          <a:ln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49" name="直接箭头连接符 148"/>
          <p:cNvCxnSpPr>
            <a:stCxn id="46" idx="3"/>
            <a:endCxn id="56" idx="1"/>
          </p:cNvCxnSpPr>
          <p:nvPr/>
        </p:nvCxnSpPr>
        <p:spPr>
          <a:xfrm>
            <a:off x="13268325" y="8020050"/>
            <a:ext cx="285750" cy="0"/>
          </a:xfrm>
          <a:prstGeom prst="straightConnector1">
            <a:avLst/>
          </a:prstGeom>
          <a:ln w="28575">
            <a:solidFill>
              <a:srgbClr val="E4872D"/>
            </a:solidFill>
            <a:prstDash val="dash"/>
            <a:tailEnd type="triangle" w="sm" len="sm"/>
          </a:ln>
        </p:spPr>
      </p:cxnSp>
      <p:cxnSp>
        <p:nvCxnSpPr>
          <p:cNvPr id="150" name="直接箭头连接符 149"/>
          <p:cNvCxnSpPr>
            <a:stCxn id="60" idx="0"/>
            <a:endCxn id="58" idx="2"/>
          </p:cNvCxnSpPr>
          <p:nvPr/>
        </p:nvCxnSpPr>
        <p:spPr>
          <a:xfrm flipH="1" flipV="1">
            <a:off x="15440025" y="7915275"/>
            <a:ext cx="809625" cy="142875"/>
          </a:xfrm>
          <a:prstGeom prst="straightConnector1">
            <a:avLst/>
          </a:prstGeom>
          <a:ln w="28575">
            <a:solidFill>
              <a:srgbClr val="E4872D"/>
            </a:solidFill>
            <a:prstDash val="dash"/>
            <a:tailEnd type="triangle" w="sm" len="sm"/>
          </a:ln>
        </p:spPr>
      </p:cxnSp>
      <p:sp>
        <p:nvSpPr>
          <p:cNvPr id="72" name="flow-1"/>
          <p:cNvSpPr>
            <a:spLocks noGrp="1"/>
          </p:cNvSpPr>
          <p:nvPr/>
        </p:nvSpPr>
        <p:spPr>
          <a:xfrm>
            <a:off x="4476750" y="23526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8039"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 / 创建服务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flow-2"/>
          <p:cNvSpPr>
            <a:spLocks noGrp="1"/>
          </p:cNvSpPr>
          <p:nvPr/>
        </p:nvSpPr>
        <p:spPr>
          <a:xfrm>
            <a:off x="6000750" y="48768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8039"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构建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flow-3"/>
          <p:cNvSpPr>
            <a:spLocks noGrp="1"/>
          </p:cNvSpPr>
          <p:nvPr/>
        </p:nvSpPr>
        <p:spPr>
          <a:xfrm>
            <a:off x="9124950" y="4876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8039"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推送镜像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flow-4"/>
          <p:cNvSpPr>
            <a:spLocks noGrp="1"/>
          </p:cNvSpPr>
          <p:nvPr/>
        </p:nvSpPr>
        <p:spPr>
          <a:xfrm>
            <a:off x="12001500" y="4876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8039"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写入声明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flow-5"/>
          <p:cNvSpPr>
            <a:spLocks noGrp="1"/>
          </p:cNvSpPr>
          <p:nvPr/>
        </p:nvSpPr>
        <p:spPr>
          <a:xfrm>
            <a:off x="15259050" y="4876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8039"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持续同步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flow-6"/>
          <p:cNvSpPr>
            <a:spLocks noGrp="1"/>
          </p:cNvSpPr>
          <p:nvPr/>
        </p:nvSpPr>
        <p:spPr>
          <a:xfrm>
            <a:off x="9734550" y="15335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JWT 鉴权后按域名 / 路径路由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flow-7"/>
          <p:cNvSpPr>
            <a:spLocks noGrp="1"/>
          </p:cNvSpPr>
          <p:nvPr/>
        </p:nvSpPr>
        <p:spPr>
          <a:xfrm>
            <a:off x="12982575" y="8305800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8039"/>
          </a:bodyPr>
          <a:lstStyle/>
          <a:p>
            <a:pPr algn="ctr">
              <a:def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25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Metrics</a:t>
            </a:r>
            <a:endParaRPr sz="1275" b="0">
              <a:solidFill>
                <a:srgbClr val="425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ecurity-footer"/>
          <p:cNvSpPr>
            <a:spLocks noGrp="1"/>
          </p:cNvSpPr>
          <p:nvPr/>
        </p:nvSpPr>
        <p:spPr>
          <a:xfrm>
            <a:off x="1952625" y="9582150"/>
            <a:ext cx="15373350" cy="457200"/>
          </a:xfrm>
          <a:prstGeom prst="roundRect">
            <a:avLst>
              <a:gd name="adj" fmla="val 25000"/>
            </a:avLst>
          </a:prstGeom>
          <a:solidFill>
            <a:srgbClr val="17324A"/>
          </a:solidFill>
          <a:ln w="19050">
            <a:solidFill>
              <a:srgbClr val="17324A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双层安全体系：平台层 JWT + Redis 认证　｜　集群层 Kubernetes RBAC 授权　｜　Namespace 级资源与权限隔离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WPS 演示</Application>
  <PresentationFormat>Converted Presentation</PresentationFormat>
  <Paragraphs>123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李淑婧</cp:lastModifiedBy>
  <cp:revision>1</cp:revision>
  <dcterms:created xsi:type="dcterms:W3CDTF">2026-08-25T04:37:21Z</dcterms:created>
  <dcterms:modified xsi:type="dcterms:W3CDTF">2026-08-25T04:37:21Z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B4B0BA8ABC2247138B332DBF3AF7D84E_12</vt:lpwstr>
  </property>
</Properties>
</file>